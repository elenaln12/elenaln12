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94" r:id="rId3"/>
    <p:sldId id="298" r:id="rId4"/>
    <p:sldId id="299" r:id="rId5"/>
    <p:sldId id="300" r:id="rId6"/>
    <p:sldId id="301" r:id="rId7"/>
    <p:sldId id="303" r:id="rId8"/>
    <p:sldId id="304" r:id="rId9"/>
    <p:sldId id="306" r:id="rId10"/>
    <p:sldId id="307" r:id="rId11"/>
    <p:sldId id="305" r:id="rId12"/>
    <p:sldId id="308" r:id="rId13"/>
    <p:sldId id="309" r:id="rId14"/>
    <p:sldId id="31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278" userDrawn="1">
          <p15:clr>
            <a:srgbClr val="A4A3A4"/>
          </p15:clr>
        </p15:guide>
        <p15:guide id="8" orient="horz" pos="4088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3" orient="horz" pos="1253" userDrawn="1">
          <p15:clr>
            <a:srgbClr val="A4A3A4"/>
          </p15:clr>
        </p15:guide>
        <p15:guide id="15" userDrawn="1">
          <p15:clr>
            <a:srgbClr val="A4A3A4"/>
          </p15:clr>
        </p15:guide>
        <p15:guide id="16" pos="7680" userDrawn="1">
          <p15:clr>
            <a:srgbClr val="A4A3A4"/>
          </p15:clr>
        </p15:guide>
        <p15:guide id="19" orient="horz" pos="2409" userDrawn="1">
          <p15:clr>
            <a:srgbClr val="A4A3A4"/>
          </p15:clr>
        </p15:guide>
        <p15:guide id="20" pos="166" userDrawn="1">
          <p15:clr>
            <a:srgbClr val="A4A3A4"/>
          </p15:clr>
        </p15:guide>
        <p15:guide id="21" pos="7514" userDrawn="1">
          <p15:clr>
            <a:srgbClr val="A4A3A4"/>
          </p15:clr>
        </p15:guide>
        <p15:guide id="24" orient="horz" pos="3271" userDrawn="1">
          <p15:clr>
            <a:srgbClr val="A4A3A4"/>
          </p15:clr>
        </p15:guide>
        <p15:guide id="27" orient="horz" pos="3566" userDrawn="1">
          <p15:clr>
            <a:srgbClr val="A4A3A4"/>
          </p15:clr>
        </p15:guide>
        <p15:guide id="30" pos="438" userDrawn="1">
          <p15:clr>
            <a:srgbClr val="A4A3A4"/>
          </p15:clr>
        </p15:guide>
        <p15:guide id="31" pos="1844" userDrawn="1">
          <p15:clr>
            <a:srgbClr val="A4A3A4"/>
          </p15:clr>
        </p15:guide>
        <p15:guide id="32" orient="horz" pos="2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A14"/>
    <a:srgbClr val="FFDD2D"/>
    <a:srgbClr val="333333"/>
    <a:srgbClr val="000000"/>
    <a:srgbClr val="FFFFFF"/>
    <a:srgbClr val="A9A9A9"/>
    <a:srgbClr val="E79E13"/>
    <a:srgbClr val="AB4E2D"/>
    <a:srgbClr val="E0A00C"/>
    <a:srgbClr val="9D7B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67" autoAdjust="0"/>
  </p:normalViewPr>
  <p:slideViewPr>
    <p:cSldViewPr snapToGrid="0" showGuides="1">
      <p:cViewPr varScale="1">
        <p:scale>
          <a:sx n="102" d="100"/>
          <a:sy n="102" d="100"/>
        </p:scale>
        <p:origin x="72" y="138"/>
      </p:cViewPr>
      <p:guideLst>
        <p:guide orient="horz" pos="278"/>
        <p:guide orient="horz" pos="4088"/>
        <p:guide pos="3840"/>
        <p:guide orient="horz" pos="1253"/>
        <p:guide/>
        <p:guide pos="7680"/>
        <p:guide orient="horz" pos="2409"/>
        <p:guide pos="166"/>
        <p:guide pos="7514"/>
        <p:guide orient="horz" pos="3271"/>
        <p:guide orient="horz" pos="3566"/>
        <p:guide pos="438"/>
        <p:guide pos="1844"/>
        <p:guide orient="horz" pos="2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BB72E-E75A-43C4-BFAB-4973CD8F417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E9AE2-0B35-42CD-8B28-6C8463AD4A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580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E9AE2-0B35-42CD-8B28-6C8463AD4A8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18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E9AE2-0B35-42CD-8B28-6C8463AD4A8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902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E9AE2-0B35-42CD-8B28-6C8463AD4A8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76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E9AE2-0B35-42CD-8B28-6C8463AD4A8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83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E9AE2-0B35-42CD-8B28-6C8463AD4A8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43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E9AE2-0B35-42CD-8B28-6C8463AD4A8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82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E9AE2-0B35-42CD-8B28-6C8463AD4A8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074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E9AE2-0B35-42CD-8B28-6C8463AD4A8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568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0F1E5-C229-4196-8CAF-7F98AF531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6FC877-ED12-4F3D-983F-07B144FDE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212394-912B-471F-B1E0-AA009F39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E3BC-0BF7-4698-9E7E-7607DEBF037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E0192F-A4C2-488A-AA3A-BBC407FB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69A11C-9C5A-4E55-A708-50EFD81B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56638-F4C8-43CF-8A16-96D72F1F9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835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6A4AB-8410-4C4A-89DF-7082F1EE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85DB48-7FED-4DC4-8B67-86C85AE3A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34F244-A87E-4BDE-9E25-1C30DEE6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E3BC-0BF7-4698-9E7E-7607DEBF037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1A9D67-9E95-47BA-9E43-176ED307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ECD420-8758-47D1-BC35-0E896BDE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56638-F4C8-43CF-8A16-96D72F1F9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88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0ECFDC-BCAA-4443-BFFB-B50D73FA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2A6189-FB89-498D-A60E-AE33D0A1F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040909-C468-4128-ACA7-612E93065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E3BC-0BF7-4698-9E7E-7607DEBF037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77311E-8867-4097-BC52-C84B2E553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6409AA-CFEF-45C6-AF66-4E00012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56638-F4C8-43CF-8A16-96D72F1F9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006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8B4A4-E6F8-4F6E-AB6C-0BD611DE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DCACBA-7240-4B4E-8C9D-3BADE54ACD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BB5EC5-74AC-4FE3-9B2F-E9133861E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6B1B45-9FF7-43CB-9263-4A23B1B3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E3BC-0BF7-4698-9E7E-7607DEBF037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67ED67-8380-4C49-A06A-A697156D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E638F8-E645-4FCE-88F7-6862B18D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56638-F4C8-43CF-8A16-96D72F1F9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473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EE79A6-9940-4BF7-A291-30810F97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C22E16-C561-4AF3-A942-35A63623B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628710-1175-4110-90E5-519C0588E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4FDBF12-A087-4CD1-89AC-4828CA2AC7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AE77141-BB9B-4CD4-B040-94535335C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1F19806-6EC3-4EB5-B640-72D7B0AD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E3BC-0BF7-4698-9E7E-7607DEBF037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4AFDF6-C6D7-4E65-AF0A-635D45CEC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8078B22-DDD5-49E0-A4DB-0B7334ED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56638-F4C8-43CF-8A16-96D72F1F9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07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F4779-7677-44D9-BA69-E83ED83A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B535DC-DE7C-498A-97EE-197AC889C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E3BC-0BF7-4698-9E7E-7607DEBF037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EE1FE6E-C9A6-43C5-80DC-D667A988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D12B23C-E737-4B36-A3BA-9807DF05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56638-F4C8-43CF-8A16-96D72F1F9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149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F6F36E2-8C48-4151-AF55-51E08A0C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E3BC-0BF7-4698-9E7E-7607DEBF037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1CAA0C-45D2-48AA-AD4A-83A4F47BF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99484A-574F-4177-905E-537434DF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56638-F4C8-43CF-8A16-96D72F1F9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56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7C7AE-38A5-46F4-848D-727B9BBD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D1BEF5-9AD7-4A02-877F-2EBB34280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604C4F-5FD2-4D82-A4CC-C5E7884C8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9F3950-AF16-4D34-9F82-A5E4EA4A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E3BC-0BF7-4698-9E7E-7607DEBF037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C8FE52-6966-4492-90CF-0DC01974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A18C76-3D1E-4974-976D-B19084AA6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56638-F4C8-43CF-8A16-96D72F1F9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22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70036-D774-4361-9EB0-198D12DB4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AE31739-C7EB-499D-BA13-4A562469C5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3E5642-AFAD-4847-8B9C-434AC5E57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B63226-C8AD-4164-8842-0129AFB16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E3BC-0BF7-4698-9E7E-7607DEBF037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B11DE7-FD78-4FBE-8281-7ED230187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D0DA8F-C29E-4416-A73B-F8A293C0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56638-F4C8-43CF-8A16-96D72F1F9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587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FC328-2F4E-42C6-A984-DA8485B55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5F4DC1-F8D7-4BFF-9E41-2F91B23C6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03BFDD-2BA1-4A09-A186-7297F94A0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E3BC-0BF7-4698-9E7E-7607DEBF037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338AB9-8DDB-433A-98CF-166CFD14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8D91BC-6B65-4583-9E59-9A91BC60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56638-F4C8-43CF-8A16-96D72F1F9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216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118531-5E61-4F79-A073-DE5F9B0F8B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27CF5D-40F0-4050-AD47-EFFDCF206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3F9F73-AF0A-48CA-8E15-F9DB2146C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E3BC-0BF7-4698-9E7E-7607DEBF037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B376D5-BCFE-47E6-BC21-97612524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1E45AF-233E-4C3A-A12D-DD559289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56638-F4C8-43CF-8A16-96D72F1F9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94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487DBC-4048-4538-B9BB-5CD7F5667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8B850B-D93B-4425-A5DE-DC39EC5D7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4D9636-2778-4DE0-8C6B-F164B25B6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8E3BC-0BF7-4698-9E7E-7607DEBF037D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7004EE-E598-4137-9804-22BC7B0A9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6FCA2A-AE92-4C6C-B24D-A20207C86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6638-F4C8-43CF-8A16-96D72F1F9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817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135DC4D2-1CE7-4437-A19B-5CDAAA47E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518138">
            <a:off x="-1771046" y="2115289"/>
            <a:ext cx="6882765" cy="6882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5736764-6DEE-44EA-9091-33DF3F23E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7633" y="203200"/>
            <a:ext cx="1171955" cy="151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9B75635-9BEA-48AE-9A14-C933696842DB}"/>
              </a:ext>
            </a:extLst>
          </p:cNvPr>
          <p:cNvSpPr/>
          <p:nvPr/>
        </p:nvSpPr>
        <p:spPr>
          <a:xfrm>
            <a:off x="2921794" y="5885359"/>
            <a:ext cx="6096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000" b="1" i="0" u="none" strike="noStrike" dirty="0">
                <a:solidFill>
                  <a:srgbClr val="000000"/>
                </a:solidFill>
                <a:effectLst/>
                <a:latin typeface="Roboto"/>
              </a:rPr>
              <a:t>Специалист по </a:t>
            </a:r>
            <a:r>
              <a:rPr lang="ru-RU" sz="2000" b="1" i="0" u="none" strike="noStrike" dirty="0" err="1">
                <a:solidFill>
                  <a:srgbClr val="000000"/>
                </a:solidFill>
                <a:effectLst/>
                <a:latin typeface="Roboto"/>
              </a:rPr>
              <a:t>Data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latin typeface="Roboto"/>
              </a:rPr>
              <a:t>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Roboto"/>
              </a:rPr>
              <a:t>Analyst</a:t>
            </a:r>
            <a:endParaRPr lang="ru-RU" b="0" dirty="0">
              <a:effectLst/>
            </a:endParaRPr>
          </a:p>
          <a:p>
            <a:pPr algn="ctr"/>
            <a:r>
              <a:rPr lang="ru-RU" dirty="0">
                <a:solidFill>
                  <a:srgbClr val="000000"/>
                </a:solidFill>
                <a:latin typeface="Roboto"/>
              </a:rPr>
              <a:t>программа профессиональной переподготовки</a:t>
            </a:r>
            <a:endParaRPr lang="ru-RU" b="0" dirty="0">
              <a:effectLst/>
            </a:endParaRP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B2619-341D-45FA-BAF3-F05EB2559113}"/>
              </a:ext>
            </a:extLst>
          </p:cNvPr>
          <p:cNvSpPr txBox="1"/>
          <p:nvPr/>
        </p:nvSpPr>
        <p:spPr>
          <a:xfrm>
            <a:off x="398030" y="2192421"/>
            <a:ext cx="1139594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/>
              <a:t>Прогнозирование вероятности приобретения</a:t>
            </a:r>
          </a:p>
          <a:p>
            <a:pPr algn="ctr"/>
            <a:r>
              <a:rPr lang="ru-RU" sz="4400" b="1" dirty="0"/>
              <a:t> туристических услуг клиентом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7E35CF-B267-430B-8B42-E9F9C8D523F9}"/>
              </a:ext>
            </a:extLst>
          </p:cNvPr>
          <p:cNvSpPr txBox="1"/>
          <p:nvPr/>
        </p:nvSpPr>
        <p:spPr>
          <a:xfrm>
            <a:off x="9832837" y="6039247"/>
            <a:ext cx="2095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i="1" dirty="0"/>
              <a:t>Е.А. Листопад</a:t>
            </a:r>
          </a:p>
        </p:txBody>
      </p:sp>
    </p:spTree>
    <p:extLst>
      <p:ext uri="{BB962C8B-B14F-4D97-AF65-F5344CB8AC3E}">
        <p14:creationId xmlns:p14="http://schemas.microsoft.com/office/powerpoint/2010/main" val="201726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F4BCE34-315E-467A-9869-A86DFA656835}"/>
              </a:ext>
            </a:extLst>
          </p:cNvPr>
          <p:cNvGrpSpPr/>
          <p:nvPr/>
        </p:nvGrpSpPr>
        <p:grpSpPr>
          <a:xfrm>
            <a:off x="334963" y="3661929"/>
            <a:ext cx="9097463" cy="2721600"/>
            <a:chOff x="695325" y="3062494"/>
            <a:chExt cx="8601257" cy="3246231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AEC79958-FD46-4AC4-A1A0-3325A6957745}"/>
                </a:ext>
              </a:extLst>
            </p:cNvPr>
            <p:cNvSpPr/>
            <p:nvPr/>
          </p:nvSpPr>
          <p:spPr>
            <a:xfrm>
              <a:off x="695325" y="3062494"/>
              <a:ext cx="5275707" cy="3246231"/>
            </a:xfrm>
            <a:prstGeom prst="roundRect">
              <a:avLst/>
            </a:prstGeom>
            <a:solidFill>
              <a:schemeClr val="bg1"/>
            </a:solidFill>
            <a:ln w="63500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80000"/>
                </a:lnSpc>
              </a:pPr>
              <a:endParaRPr lang="ru-RU" dirty="0">
                <a:solidFill>
                  <a:schemeClr val="bg1"/>
                </a:solidFill>
                <a:latin typeface="Jost"/>
                <a:ea typeface="Jost Light" pitchFamily="2" charset="-52"/>
              </a:endParaRP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1D8AC5CF-450E-496C-93C2-0C3F9739C09D}"/>
                </a:ext>
              </a:extLst>
            </p:cNvPr>
            <p:cNvSpPr/>
            <p:nvPr/>
          </p:nvSpPr>
          <p:spPr>
            <a:xfrm>
              <a:off x="695325" y="3062494"/>
              <a:ext cx="4751615" cy="8804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6000" b="1" dirty="0"/>
                <a:t>Бизнес-задача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EA5977F3-EA7F-42C2-A5B0-483FB35E96F6}"/>
                </a:ext>
              </a:extLst>
            </p:cNvPr>
            <p:cNvSpPr/>
            <p:nvPr/>
          </p:nvSpPr>
          <p:spPr>
            <a:xfrm>
              <a:off x="955217" y="5166239"/>
              <a:ext cx="4771815" cy="4002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ru-RU" sz="2400" dirty="0"/>
            </a:p>
          </p:txBody>
        </p: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E1F3E3FF-B4F7-4D24-99D2-67C52054B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939" y="4262901"/>
              <a:ext cx="2876207" cy="11136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76922A9E-AE67-48C2-8B71-BB05DBBBD9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0375" y="4272358"/>
              <a:ext cx="2876207" cy="11136"/>
            </a:xfrm>
            <a:prstGeom prst="line">
              <a:avLst/>
            </a:prstGeom>
            <a:ln w="19050" cap="rnd">
              <a:solidFill>
                <a:srgbClr val="FFDD2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CBBC974-63F5-4E50-9F7F-23500184DC82}"/>
              </a:ext>
            </a:extLst>
          </p:cNvPr>
          <p:cNvSpPr/>
          <p:nvPr/>
        </p:nvSpPr>
        <p:spPr>
          <a:xfrm>
            <a:off x="448278" y="4700228"/>
            <a:ext cx="50471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ea typeface="Jost Light" pitchFamily="2" charset="-52"/>
              </a:rPr>
              <a:t>Персонализировать первый </a:t>
            </a:r>
            <a:r>
              <a:rPr lang="ru-RU" sz="2400" dirty="0" err="1">
                <a:ea typeface="Jost Light" pitchFamily="2" charset="-52"/>
              </a:rPr>
              <a:t>оффер</a:t>
            </a:r>
            <a:r>
              <a:rPr lang="ru-RU" sz="2400" dirty="0">
                <a:ea typeface="Jost Light" pitchFamily="2" charset="-52"/>
              </a:rPr>
              <a:t> для клиентов, которые еще не пользовались разделом Путешествия</a:t>
            </a:r>
            <a:endParaRPr lang="ru-RU" sz="2400" dirty="0"/>
          </a:p>
        </p:txBody>
      </p:sp>
      <p:pic>
        <p:nvPicPr>
          <p:cNvPr id="28" name="Picture 2" descr="Picture background">
            <a:extLst>
              <a:ext uri="{FF2B5EF4-FFF2-40B4-BE49-F238E27FC236}">
                <a16:creationId xmlns:a16="http://schemas.microsoft.com/office/drawing/2014/main" id="{BCCF3196-4569-4CA2-987B-23B928DE2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990" y="1041954"/>
            <a:ext cx="8961077" cy="244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2CBA744-31CB-4480-810B-E3DF0B72AB41}"/>
              </a:ext>
            </a:extLst>
          </p:cNvPr>
          <p:cNvSpPr/>
          <p:nvPr/>
        </p:nvSpPr>
        <p:spPr>
          <a:xfrm>
            <a:off x="-1019987" y="1589209"/>
            <a:ext cx="8487744" cy="139570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b="1" dirty="0">
                <a:solidFill>
                  <a:schemeClr val="tx1"/>
                </a:solidFill>
              </a:rPr>
              <a:t>РАЗДЕЛ ПУТЕШЕСТВИЯ </a:t>
            </a:r>
            <a:r>
              <a:rPr lang="ru-RU" sz="4400" dirty="0">
                <a:solidFill>
                  <a:schemeClr val="tx1"/>
                </a:solidFill>
              </a:rPr>
              <a:t>АВИАБИЛЕТЫ </a:t>
            </a:r>
            <a:r>
              <a:rPr lang="en-US" sz="4400" i="1" dirty="0">
                <a:solidFill>
                  <a:schemeClr val="tx1"/>
                </a:solidFill>
              </a:rPr>
              <a:t>VS</a:t>
            </a:r>
            <a:r>
              <a:rPr lang="ru-RU" sz="4400" dirty="0">
                <a:solidFill>
                  <a:schemeClr val="tx1"/>
                </a:solidFill>
              </a:rPr>
              <a:t> ОТЕЛИ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5FB4E76C-4BB2-4BBD-B731-42D190A364E9}"/>
              </a:ext>
            </a:extLst>
          </p:cNvPr>
          <p:cNvGrpSpPr/>
          <p:nvPr/>
        </p:nvGrpSpPr>
        <p:grpSpPr>
          <a:xfrm>
            <a:off x="6380812" y="3605346"/>
            <a:ext cx="5208671" cy="2287471"/>
            <a:chOff x="802459" y="3038555"/>
            <a:chExt cx="4924573" cy="2527900"/>
          </a:xfrm>
          <a:solidFill>
            <a:srgbClr val="FAFAFA"/>
          </a:solidFill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E7BED009-7A2C-4F56-B88B-AA462D9D045E}"/>
                </a:ext>
              </a:extLst>
            </p:cNvPr>
            <p:cNvSpPr/>
            <p:nvPr/>
          </p:nvSpPr>
          <p:spPr>
            <a:xfrm>
              <a:off x="802459" y="3038555"/>
              <a:ext cx="3011437" cy="88047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ru-RU" sz="6000" b="1" dirty="0"/>
                <a:t>Решение</a:t>
              </a:r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6A8FEFDF-6BAF-4D45-AE59-62E794D6AEF4}"/>
                </a:ext>
              </a:extLst>
            </p:cNvPr>
            <p:cNvSpPr/>
            <p:nvPr/>
          </p:nvSpPr>
          <p:spPr>
            <a:xfrm>
              <a:off x="955217" y="5166239"/>
              <a:ext cx="4771815" cy="40021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endParaRPr lang="ru-RU" sz="2400" dirty="0"/>
            </a:p>
          </p:txBody>
        </p:sp>
      </p:grp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E209A6B-8B56-4711-B8E6-424652B81206}"/>
              </a:ext>
            </a:extLst>
          </p:cNvPr>
          <p:cNvSpPr/>
          <p:nvPr/>
        </p:nvSpPr>
        <p:spPr>
          <a:xfrm>
            <a:off x="6380812" y="4718141"/>
            <a:ext cx="50471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ea typeface="Jost Light" pitchFamily="2" charset="-52"/>
              </a:rPr>
              <a:t>ML</a:t>
            </a:r>
            <a:r>
              <a:rPr lang="ru-RU" sz="2400" dirty="0">
                <a:ea typeface="Jost Light" pitchFamily="2" charset="-52"/>
              </a:rPr>
              <a:t> - модель предсказывает, что скорее купит клиент:</a:t>
            </a:r>
          </a:p>
          <a:p>
            <a:r>
              <a:rPr lang="ru-RU" sz="2400" dirty="0">
                <a:ea typeface="Jost Light" pitchFamily="2" charset="-52"/>
              </a:rPr>
              <a:t>номер в отеле или билет </a:t>
            </a:r>
            <a:endParaRPr lang="ru-RU" sz="2400" dirty="0"/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043805-C7A8-411B-A6E7-858DCED7A548}"/>
              </a:ext>
            </a:extLst>
          </p:cNvPr>
          <p:cNvGrpSpPr/>
          <p:nvPr/>
        </p:nvGrpSpPr>
        <p:grpSpPr>
          <a:xfrm>
            <a:off x="334963" y="802907"/>
            <a:ext cx="7665058" cy="500514"/>
            <a:chOff x="334963" y="1417848"/>
            <a:chExt cx="7665058" cy="500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F2DBBC7-B3B3-4C8C-9FFB-5081DB759F74}"/>
                </a:ext>
              </a:extLst>
            </p:cNvPr>
            <p:cNvSpPr/>
            <p:nvPr/>
          </p:nvSpPr>
          <p:spPr>
            <a:xfrm>
              <a:off x="334963" y="1617043"/>
              <a:ext cx="7164544" cy="115495"/>
            </a:xfrm>
            <a:prstGeom prst="rect">
              <a:avLst/>
            </a:prstGeom>
            <a:solidFill>
              <a:srgbClr val="FFDD2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9FC80AC4-1540-449C-9494-A5512370CCD4}"/>
                </a:ext>
              </a:extLst>
            </p:cNvPr>
            <p:cNvSpPr/>
            <p:nvPr/>
          </p:nvSpPr>
          <p:spPr>
            <a:xfrm>
              <a:off x="7499507" y="1417848"/>
              <a:ext cx="500514" cy="500514"/>
            </a:xfrm>
            <a:prstGeom prst="ellipse">
              <a:avLst/>
            </a:prstGeom>
            <a:solidFill>
              <a:srgbClr val="FFDD2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AA4E00D6-0ED8-4029-9650-D674C7B2C3E8}"/>
                </a:ext>
              </a:extLst>
            </p:cNvPr>
            <p:cNvSpPr/>
            <p:nvPr/>
          </p:nvSpPr>
          <p:spPr>
            <a:xfrm>
              <a:off x="7615011" y="1528287"/>
              <a:ext cx="269506" cy="2796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11387D10-0528-4373-8576-FDAE3E1439F2}"/>
              </a:ext>
            </a:extLst>
          </p:cNvPr>
          <p:cNvSpPr/>
          <p:nvPr/>
        </p:nvSpPr>
        <p:spPr>
          <a:xfrm>
            <a:off x="6267497" y="3661092"/>
            <a:ext cx="5580062" cy="2743504"/>
          </a:xfrm>
          <a:prstGeom prst="roundRect">
            <a:avLst/>
          </a:prstGeom>
          <a:noFill/>
          <a:ln w="63500">
            <a:solidFill>
              <a:srgbClr val="FFDD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endParaRPr lang="ru-RU" dirty="0">
              <a:solidFill>
                <a:schemeClr val="bg1"/>
              </a:solidFill>
              <a:latin typeface="Jost"/>
              <a:ea typeface="Jost Light" pitchFamily="2" charset="-52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447D71-1162-4911-AF08-7EF6157E71B2}"/>
              </a:ext>
            </a:extLst>
          </p:cNvPr>
          <p:cNvSpPr txBox="1"/>
          <p:nvPr/>
        </p:nvSpPr>
        <p:spPr>
          <a:xfrm>
            <a:off x="264127" y="251297"/>
            <a:ext cx="61261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/>
              <a:t>ПОСТАНОВКА ЗАДАЧИ</a:t>
            </a:r>
          </a:p>
        </p:txBody>
      </p:sp>
    </p:spTree>
    <p:extLst>
      <p:ext uri="{BB962C8B-B14F-4D97-AF65-F5344CB8AC3E}">
        <p14:creationId xmlns:p14="http://schemas.microsoft.com/office/powerpoint/2010/main" val="134051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2CBA744-31CB-4480-810B-E3DF0B72AB41}"/>
              </a:ext>
            </a:extLst>
          </p:cNvPr>
          <p:cNvSpPr/>
          <p:nvPr/>
        </p:nvSpPr>
        <p:spPr>
          <a:xfrm>
            <a:off x="334962" y="1312420"/>
            <a:ext cx="11522076" cy="1540317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chemeClr val="tx1"/>
                </a:solidFill>
              </a:rPr>
              <a:t>Объект исследования – это </a:t>
            </a:r>
            <a:r>
              <a:rPr lang="ru-RU" sz="3600" b="1" dirty="0">
                <a:solidFill>
                  <a:schemeClr val="tx1"/>
                </a:solidFill>
              </a:rPr>
              <a:t>ПОЛЬЗОВАТЕЛИ И ИХ ТРАНЗАКЦИИ </a:t>
            </a:r>
            <a:r>
              <a:rPr lang="ru-RU" sz="3600" dirty="0">
                <a:solidFill>
                  <a:schemeClr val="tx1"/>
                </a:solidFill>
              </a:rPr>
              <a:t>по:</a:t>
            </a: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043805-C7A8-411B-A6E7-858DCED7A548}"/>
              </a:ext>
            </a:extLst>
          </p:cNvPr>
          <p:cNvGrpSpPr/>
          <p:nvPr/>
        </p:nvGrpSpPr>
        <p:grpSpPr>
          <a:xfrm>
            <a:off x="334963" y="802907"/>
            <a:ext cx="7665058" cy="500514"/>
            <a:chOff x="334963" y="1417848"/>
            <a:chExt cx="7665058" cy="500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F2DBBC7-B3B3-4C8C-9FFB-5081DB759F74}"/>
                </a:ext>
              </a:extLst>
            </p:cNvPr>
            <p:cNvSpPr/>
            <p:nvPr/>
          </p:nvSpPr>
          <p:spPr>
            <a:xfrm>
              <a:off x="334963" y="1617043"/>
              <a:ext cx="7164544" cy="115495"/>
            </a:xfrm>
            <a:prstGeom prst="rect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9FC80AC4-1540-449C-9494-A5512370CCD4}"/>
                </a:ext>
              </a:extLst>
            </p:cNvPr>
            <p:cNvSpPr/>
            <p:nvPr/>
          </p:nvSpPr>
          <p:spPr>
            <a:xfrm>
              <a:off x="7499507" y="1417848"/>
              <a:ext cx="500514" cy="500514"/>
            </a:xfrm>
            <a:prstGeom prst="ellipse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AA4E00D6-0ED8-4029-9650-D674C7B2C3E8}"/>
                </a:ext>
              </a:extLst>
            </p:cNvPr>
            <p:cNvSpPr/>
            <p:nvPr/>
          </p:nvSpPr>
          <p:spPr>
            <a:xfrm>
              <a:off x="7615011" y="1528287"/>
              <a:ext cx="269506" cy="2796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4447D71-1162-4911-AF08-7EF6157E71B2}"/>
              </a:ext>
            </a:extLst>
          </p:cNvPr>
          <p:cNvSpPr txBox="1"/>
          <p:nvPr/>
        </p:nvSpPr>
        <p:spPr>
          <a:xfrm>
            <a:off x="264127" y="251297"/>
            <a:ext cx="12314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333333"/>
                </a:solidFill>
              </a:rPr>
              <a:t>EDA</a:t>
            </a:r>
            <a:endParaRPr lang="ru-RU" sz="4800" b="1" dirty="0">
              <a:solidFill>
                <a:srgbClr val="333333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E38625C4-467B-45F5-8992-E36079E4309D}"/>
              </a:ext>
            </a:extLst>
          </p:cNvPr>
          <p:cNvSpPr/>
          <p:nvPr/>
        </p:nvSpPr>
        <p:spPr>
          <a:xfrm>
            <a:off x="166085" y="2964674"/>
            <a:ext cx="5763829" cy="928652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b="1" dirty="0">
                <a:solidFill>
                  <a:schemeClr val="tx1"/>
                </a:solidFill>
              </a:rPr>
              <a:t> </a:t>
            </a:r>
            <a:r>
              <a:rPr lang="ru-RU" sz="3600" b="1" dirty="0">
                <a:solidFill>
                  <a:srgbClr val="E0A00C"/>
                </a:solidFill>
              </a:rPr>
              <a:t>бронированию отелей</a:t>
            </a:r>
            <a:endParaRPr lang="ru-RU" sz="3600" dirty="0">
              <a:solidFill>
                <a:srgbClr val="E0A00C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F90EDA18-F34B-4829-A90B-EFB609AA7D57}"/>
              </a:ext>
            </a:extLst>
          </p:cNvPr>
          <p:cNvSpPr/>
          <p:nvPr/>
        </p:nvSpPr>
        <p:spPr>
          <a:xfrm>
            <a:off x="5834665" y="2998900"/>
            <a:ext cx="6191250" cy="928652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0D3C95"/>
                </a:solidFill>
              </a:rPr>
              <a:t> </a:t>
            </a:r>
            <a:r>
              <a:rPr lang="ru-RU" sz="3600" b="1" dirty="0">
                <a:solidFill>
                  <a:srgbClr val="AB4E2D"/>
                </a:solidFill>
              </a:rPr>
              <a:t>приобретению авиабилетов</a:t>
            </a:r>
            <a:endParaRPr lang="ru-RU" sz="3600" dirty="0">
              <a:solidFill>
                <a:srgbClr val="AB4E2D"/>
              </a:solidFill>
            </a:endParaRPr>
          </a:p>
        </p:txBody>
      </p:sp>
      <p:sp>
        <p:nvSpPr>
          <p:cNvPr id="3" name="Равнобедренный треугольник 2">
            <a:extLst>
              <a:ext uri="{FF2B5EF4-FFF2-40B4-BE49-F238E27FC236}">
                <a16:creationId xmlns:a16="http://schemas.microsoft.com/office/drawing/2014/main" id="{2A468744-FEC9-4A10-9A14-EC8F52A5374D}"/>
              </a:ext>
            </a:extLst>
          </p:cNvPr>
          <p:cNvSpPr/>
          <p:nvPr/>
        </p:nvSpPr>
        <p:spPr>
          <a:xfrm>
            <a:off x="2552700" y="3835400"/>
            <a:ext cx="990600" cy="206375"/>
          </a:xfrm>
          <a:prstGeom prst="triangle">
            <a:avLst/>
          </a:prstGeom>
          <a:solidFill>
            <a:srgbClr val="9D7B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Равнобедренный треугольник 30">
            <a:extLst>
              <a:ext uri="{FF2B5EF4-FFF2-40B4-BE49-F238E27FC236}">
                <a16:creationId xmlns:a16="http://schemas.microsoft.com/office/drawing/2014/main" id="{AB393EB4-A2AA-4C19-9905-BFA9F8EA9397}"/>
              </a:ext>
            </a:extLst>
          </p:cNvPr>
          <p:cNvSpPr/>
          <p:nvPr/>
        </p:nvSpPr>
        <p:spPr>
          <a:xfrm>
            <a:off x="8648700" y="3835400"/>
            <a:ext cx="990600" cy="206375"/>
          </a:xfrm>
          <a:prstGeom prst="triangle">
            <a:avLst/>
          </a:prstGeom>
          <a:solidFill>
            <a:srgbClr val="AB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150" name="Picture 6" descr="Picture background">
            <a:extLst>
              <a:ext uri="{FF2B5EF4-FFF2-40B4-BE49-F238E27FC236}">
                <a16:creationId xmlns:a16="http://schemas.microsoft.com/office/drawing/2014/main" id="{ABBEBCBE-50A2-4721-B29E-D62D1CE055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84" r="-1" b="8388"/>
          <a:stretch/>
        </p:blipFill>
        <p:spPr bwMode="auto">
          <a:xfrm>
            <a:off x="6096000" y="4039489"/>
            <a:ext cx="6076950" cy="28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Picture background">
            <a:extLst>
              <a:ext uri="{FF2B5EF4-FFF2-40B4-BE49-F238E27FC236}">
                <a16:creationId xmlns:a16="http://schemas.microsoft.com/office/drawing/2014/main" id="{B8307BC0-2AE7-4AD6-8036-58B309ECC6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4" t="20014" r="8922" b="27797"/>
          <a:stretch/>
        </p:blipFill>
        <p:spPr bwMode="auto">
          <a:xfrm>
            <a:off x="19048" y="4039489"/>
            <a:ext cx="6076951" cy="28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6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043805-C7A8-411B-A6E7-858DCED7A548}"/>
              </a:ext>
            </a:extLst>
          </p:cNvPr>
          <p:cNvGrpSpPr/>
          <p:nvPr/>
        </p:nvGrpSpPr>
        <p:grpSpPr>
          <a:xfrm>
            <a:off x="334963" y="802907"/>
            <a:ext cx="7665058" cy="500514"/>
            <a:chOff x="334963" y="1417848"/>
            <a:chExt cx="7665058" cy="500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F2DBBC7-B3B3-4C8C-9FFB-5081DB759F74}"/>
                </a:ext>
              </a:extLst>
            </p:cNvPr>
            <p:cNvSpPr/>
            <p:nvPr/>
          </p:nvSpPr>
          <p:spPr>
            <a:xfrm>
              <a:off x="334963" y="1617043"/>
              <a:ext cx="7164544" cy="115495"/>
            </a:xfrm>
            <a:prstGeom prst="rect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9FC80AC4-1540-449C-9494-A5512370CCD4}"/>
                </a:ext>
              </a:extLst>
            </p:cNvPr>
            <p:cNvSpPr/>
            <p:nvPr/>
          </p:nvSpPr>
          <p:spPr>
            <a:xfrm>
              <a:off x="7499507" y="1417848"/>
              <a:ext cx="500514" cy="500514"/>
            </a:xfrm>
            <a:prstGeom prst="ellipse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AA4E00D6-0ED8-4029-9650-D674C7B2C3E8}"/>
                </a:ext>
              </a:extLst>
            </p:cNvPr>
            <p:cNvSpPr/>
            <p:nvPr/>
          </p:nvSpPr>
          <p:spPr>
            <a:xfrm>
              <a:off x="7615011" y="1528287"/>
              <a:ext cx="269506" cy="2796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4447D71-1162-4911-AF08-7EF6157E71B2}"/>
              </a:ext>
            </a:extLst>
          </p:cNvPr>
          <p:cNvSpPr txBox="1"/>
          <p:nvPr/>
        </p:nvSpPr>
        <p:spPr>
          <a:xfrm>
            <a:off x="264127" y="251297"/>
            <a:ext cx="12314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333333"/>
                </a:solidFill>
              </a:rPr>
              <a:t>EDA</a:t>
            </a:r>
            <a:endParaRPr lang="ru-RU" sz="4800" b="1" dirty="0">
              <a:solidFill>
                <a:srgbClr val="33333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BD934-50D8-486D-96FE-3BC2705CCCDD}"/>
              </a:ext>
            </a:extLst>
          </p:cNvPr>
          <p:cNvSpPr txBox="1"/>
          <p:nvPr/>
        </p:nvSpPr>
        <p:spPr>
          <a:xfrm>
            <a:off x="4276112" y="2213771"/>
            <a:ext cx="3639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333333"/>
                </a:solidFill>
              </a:rPr>
              <a:t>поведение клиента</a:t>
            </a:r>
          </a:p>
          <a:p>
            <a:pPr algn="ctr"/>
            <a:r>
              <a:rPr lang="ru-RU" sz="2800" b="1" dirty="0">
                <a:solidFill>
                  <a:srgbClr val="333333"/>
                </a:solidFill>
              </a:rPr>
              <a:t>до </a:t>
            </a:r>
          </a:p>
          <a:p>
            <a:pPr algn="ctr"/>
            <a:r>
              <a:rPr lang="ru-RU" sz="2800" b="1" dirty="0">
                <a:solidFill>
                  <a:srgbClr val="333333"/>
                </a:solidFill>
              </a:rPr>
              <a:t> ПЕРВОЙ ПОКУПКИ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0957507-1143-488D-A60F-0B43A2758C98}"/>
              </a:ext>
            </a:extLst>
          </p:cNvPr>
          <p:cNvSpPr/>
          <p:nvPr/>
        </p:nvSpPr>
        <p:spPr>
          <a:xfrm>
            <a:off x="0" y="1586086"/>
            <a:ext cx="4079875" cy="262919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CEA14"/>
                </a:solidFill>
              </a:rPr>
              <a:t>Dataset </a:t>
            </a:r>
            <a:endParaRPr lang="ru-RU" sz="3600" b="1" dirty="0">
              <a:solidFill>
                <a:srgbClr val="FCEA14"/>
              </a:solidFill>
            </a:endParaRPr>
          </a:p>
          <a:p>
            <a:pPr algn="ctr"/>
            <a:r>
              <a:rPr lang="ru-RU" sz="3600" b="1" dirty="0">
                <a:solidFill>
                  <a:srgbClr val="FCEA14"/>
                </a:solidFill>
              </a:rPr>
              <a:t>исходный</a:t>
            </a:r>
          </a:p>
          <a:p>
            <a:pPr algn="ctr"/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2D0AD3D-C9DB-4C72-8CC8-4E6481574FB3}"/>
              </a:ext>
            </a:extLst>
          </p:cNvPr>
          <p:cNvSpPr/>
          <p:nvPr/>
        </p:nvSpPr>
        <p:spPr>
          <a:xfrm>
            <a:off x="4079876" y="4220868"/>
            <a:ext cx="4032250" cy="262919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CEA14"/>
                </a:solidFill>
              </a:rPr>
              <a:t>принципиально важно для решения задачи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BD1173-01D0-44C3-9835-7B7EB0E38884}"/>
              </a:ext>
            </a:extLst>
          </p:cNvPr>
          <p:cNvSpPr txBox="1"/>
          <p:nvPr/>
        </p:nvSpPr>
        <p:spPr>
          <a:xfrm>
            <a:off x="39706" y="4371776"/>
            <a:ext cx="337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Объем данных: </a:t>
            </a:r>
            <a:r>
              <a:rPr lang="en-US" dirty="0"/>
              <a:t>~ 836 </a:t>
            </a:r>
            <a:r>
              <a:rPr lang="ru-RU" dirty="0"/>
              <a:t>т. записей,</a:t>
            </a:r>
          </a:p>
          <a:p>
            <a:r>
              <a:rPr lang="ru-RU" dirty="0"/>
              <a:t>                                 56 признаков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2BDFF6-840A-439F-82BF-70DAE257D173}"/>
              </a:ext>
            </a:extLst>
          </p:cNvPr>
          <p:cNvSpPr txBox="1"/>
          <p:nvPr/>
        </p:nvSpPr>
        <p:spPr>
          <a:xfrm>
            <a:off x="879840" y="4984350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Состав данных: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BFBBFF-6911-4B24-BC8A-C36C0CCE7567}"/>
              </a:ext>
            </a:extLst>
          </p:cNvPr>
          <p:cNvSpPr txBox="1"/>
          <p:nvPr/>
        </p:nvSpPr>
        <p:spPr>
          <a:xfrm>
            <a:off x="39706" y="5319925"/>
            <a:ext cx="2934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1. Информация о покупках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726BDA-18DD-4351-8D92-2E36B5AD8FE7}"/>
              </a:ext>
            </a:extLst>
          </p:cNvPr>
          <p:cNvSpPr txBox="1"/>
          <p:nvPr/>
        </p:nvSpPr>
        <p:spPr>
          <a:xfrm>
            <a:off x="39705" y="5781590"/>
            <a:ext cx="2865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2. Маркетинговые стимулы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F31F8F-411C-4A2E-AC97-F94A177D95F1}"/>
              </a:ext>
            </a:extLst>
          </p:cNvPr>
          <p:cNvSpPr txBox="1"/>
          <p:nvPr/>
        </p:nvSpPr>
        <p:spPr>
          <a:xfrm>
            <a:off x="39705" y="6252520"/>
            <a:ext cx="2272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3. Профили клиентов</a:t>
            </a:r>
          </a:p>
        </p:txBody>
      </p:sp>
      <p:sp>
        <p:nvSpPr>
          <p:cNvPr id="9" name="Равнобедренный треугольник 8">
            <a:extLst>
              <a:ext uri="{FF2B5EF4-FFF2-40B4-BE49-F238E27FC236}">
                <a16:creationId xmlns:a16="http://schemas.microsoft.com/office/drawing/2014/main" id="{99677E62-0CA9-4E16-BA2C-FF2CC17B4BF9}"/>
              </a:ext>
            </a:extLst>
          </p:cNvPr>
          <p:cNvSpPr/>
          <p:nvPr/>
        </p:nvSpPr>
        <p:spPr>
          <a:xfrm rot="10800000">
            <a:off x="1568298" y="4209752"/>
            <a:ext cx="943275" cy="115495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Равнобедренный треугольник 32">
            <a:extLst>
              <a:ext uri="{FF2B5EF4-FFF2-40B4-BE49-F238E27FC236}">
                <a16:creationId xmlns:a16="http://schemas.microsoft.com/office/drawing/2014/main" id="{E19F99E5-19C1-49B1-93E4-1B1A16F078C5}"/>
              </a:ext>
            </a:extLst>
          </p:cNvPr>
          <p:cNvSpPr/>
          <p:nvPr/>
        </p:nvSpPr>
        <p:spPr>
          <a:xfrm rot="10800000">
            <a:off x="9680426" y="4209751"/>
            <a:ext cx="943275" cy="115495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Равнобедренный треугольник 34">
            <a:extLst>
              <a:ext uri="{FF2B5EF4-FFF2-40B4-BE49-F238E27FC236}">
                <a16:creationId xmlns:a16="http://schemas.microsoft.com/office/drawing/2014/main" id="{25CD2C5D-0481-4B38-8377-57BB497D8931}"/>
              </a:ext>
            </a:extLst>
          </p:cNvPr>
          <p:cNvSpPr/>
          <p:nvPr/>
        </p:nvSpPr>
        <p:spPr>
          <a:xfrm>
            <a:off x="5624362" y="4113453"/>
            <a:ext cx="943275" cy="115495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C6C096-4729-410E-A02C-7CF2A5F16607}"/>
              </a:ext>
            </a:extLst>
          </p:cNvPr>
          <p:cNvSpPr txBox="1"/>
          <p:nvPr/>
        </p:nvSpPr>
        <p:spPr>
          <a:xfrm>
            <a:off x="8193200" y="4373681"/>
            <a:ext cx="3309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Объем данных: </a:t>
            </a:r>
            <a:r>
              <a:rPr lang="en-US" dirty="0"/>
              <a:t>~ </a:t>
            </a:r>
            <a:r>
              <a:rPr lang="ru-RU" dirty="0"/>
              <a:t>10 </a:t>
            </a:r>
            <a:r>
              <a:rPr lang="en-US" dirty="0"/>
              <a:t> </a:t>
            </a:r>
            <a:r>
              <a:rPr lang="ru-RU" dirty="0"/>
              <a:t>т. записей,</a:t>
            </a:r>
          </a:p>
          <a:p>
            <a:r>
              <a:rPr lang="ru-RU" dirty="0"/>
              <a:t>                                 21 признак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07E941C-72C3-4561-A367-18D195BB25E0}"/>
              </a:ext>
            </a:extLst>
          </p:cNvPr>
          <p:cNvSpPr/>
          <p:nvPr/>
        </p:nvSpPr>
        <p:spPr>
          <a:xfrm>
            <a:off x="8112123" y="1586086"/>
            <a:ext cx="4079875" cy="262919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CEA14"/>
                </a:solidFill>
              </a:rPr>
              <a:t>Dataset </a:t>
            </a:r>
            <a:endParaRPr lang="ru-RU" sz="3600" b="1" dirty="0">
              <a:solidFill>
                <a:srgbClr val="FCEA14"/>
              </a:solidFill>
            </a:endParaRPr>
          </a:p>
          <a:p>
            <a:pPr algn="ctr"/>
            <a:r>
              <a:rPr lang="ru-RU" sz="3600" b="1" dirty="0">
                <a:solidFill>
                  <a:srgbClr val="FCEA14"/>
                </a:solidFill>
              </a:rPr>
              <a:t>после обработки</a:t>
            </a:r>
          </a:p>
          <a:p>
            <a:pPr algn="ctr"/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A06E41-2DD8-4ECD-9F1C-48E3878764D6}"/>
              </a:ext>
            </a:extLst>
          </p:cNvPr>
          <p:cNvSpPr txBox="1"/>
          <p:nvPr/>
        </p:nvSpPr>
        <p:spPr>
          <a:xfrm>
            <a:off x="9305514" y="504771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Состав данных: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30B8DA-0F30-41A9-AAE8-573E718F1000}"/>
              </a:ext>
            </a:extLst>
          </p:cNvPr>
          <p:cNvSpPr txBox="1"/>
          <p:nvPr/>
        </p:nvSpPr>
        <p:spPr>
          <a:xfrm>
            <a:off x="8298182" y="5417043"/>
            <a:ext cx="2272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1. Профили клиентов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292A67-3012-4BE0-9978-528206E0CEDC}"/>
              </a:ext>
            </a:extLst>
          </p:cNvPr>
          <p:cNvSpPr txBox="1"/>
          <p:nvPr/>
        </p:nvSpPr>
        <p:spPr>
          <a:xfrm>
            <a:off x="8321766" y="5998740"/>
            <a:ext cx="2494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2. Целевая переменная</a:t>
            </a:r>
          </a:p>
        </p:txBody>
      </p:sp>
    </p:spTree>
    <p:extLst>
      <p:ext uri="{BB962C8B-B14F-4D97-AF65-F5344CB8AC3E}">
        <p14:creationId xmlns:p14="http://schemas.microsoft.com/office/powerpoint/2010/main" val="391693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46693CC4-A571-4FE2-A2DB-0DFFB73A2DE2}"/>
              </a:ext>
            </a:extLst>
          </p:cNvPr>
          <p:cNvSpPr/>
          <p:nvPr/>
        </p:nvSpPr>
        <p:spPr>
          <a:xfrm>
            <a:off x="5027596" y="-154004"/>
            <a:ext cx="7157987" cy="7276699"/>
          </a:xfrm>
          <a:custGeom>
            <a:avLst/>
            <a:gdLst>
              <a:gd name="connsiteX0" fmla="*/ 1963554 w 7690585"/>
              <a:gd name="connsiteY0" fmla="*/ 0 h 6853187"/>
              <a:gd name="connsiteX1" fmla="*/ 0 w 7690585"/>
              <a:gd name="connsiteY1" fmla="*/ 6853187 h 6853187"/>
              <a:gd name="connsiteX2" fmla="*/ 7690585 w 7690585"/>
              <a:gd name="connsiteY2" fmla="*/ 6853187 h 6853187"/>
              <a:gd name="connsiteX3" fmla="*/ 7690585 w 7690585"/>
              <a:gd name="connsiteY3" fmla="*/ 9625 h 6853187"/>
              <a:gd name="connsiteX4" fmla="*/ 1963554 w 7690585"/>
              <a:gd name="connsiteY4" fmla="*/ 0 h 6853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0585" h="6853187">
                <a:moveTo>
                  <a:pt x="1963554" y="0"/>
                </a:moveTo>
                <a:lnTo>
                  <a:pt x="0" y="6853187"/>
                </a:lnTo>
                <a:lnTo>
                  <a:pt x="7690585" y="6853187"/>
                </a:lnTo>
                <a:lnTo>
                  <a:pt x="7690585" y="9625"/>
                </a:lnTo>
                <a:lnTo>
                  <a:pt x="1963554" y="0"/>
                </a:lnTo>
                <a:close/>
              </a:path>
            </a:pathLst>
          </a:custGeom>
          <a:solidFill>
            <a:srgbClr val="3333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043805-C7A8-411B-A6E7-858DCED7A548}"/>
              </a:ext>
            </a:extLst>
          </p:cNvPr>
          <p:cNvGrpSpPr/>
          <p:nvPr/>
        </p:nvGrpSpPr>
        <p:grpSpPr>
          <a:xfrm>
            <a:off x="334963" y="802907"/>
            <a:ext cx="7665058" cy="500514"/>
            <a:chOff x="334963" y="1417848"/>
            <a:chExt cx="7665058" cy="500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F2DBBC7-B3B3-4C8C-9FFB-5081DB759F74}"/>
                </a:ext>
              </a:extLst>
            </p:cNvPr>
            <p:cNvSpPr/>
            <p:nvPr/>
          </p:nvSpPr>
          <p:spPr>
            <a:xfrm>
              <a:off x="334963" y="1617043"/>
              <a:ext cx="7164544" cy="115495"/>
            </a:xfrm>
            <a:prstGeom prst="rect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9FC80AC4-1540-449C-9494-A5512370CCD4}"/>
                </a:ext>
              </a:extLst>
            </p:cNvPr>
            <p:cNvSpPr/>
            <p:nvPr/>
          </p:nvSpPr>
          <p:spPr>
            <a:xfrm>
              <a:off x="7499507" y="1417848"/>
              <a:ext cx="500514" cy="500514"/>
            </a:xfrm>
            <a:prstGeom prst="ellipse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AA4E00D6-0ED8-4029-9650-D674C7B2C3E8}"/>
                </a:ext>
              </a:extLst>
            </p:cNvPr>
            <p:cNvSpPr/>
            <p:nvPr/>
          </p:nvSpPr>
          <p:spPr>
            <a:xfrm>
              <a:off x="7615011" y="1528287"/>
              <a:ext cx="269506" cy="2796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4447D71-1162-4911-AF08-7EF6157E71B2}"/>
              </a:ext>
            </a:extLst>
          </p:cNvPr>
          <p:cNvSpPr txBox="1"/>
          <p:nvPr/>
        </p:nvSpPr>
        <p:spPr>
          <a:xfrm>
            <a:off x="264127" y="251297"/>
            <a:ext cx="12314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333333"/>
                </a:solidFill>
              </a:rPr>
              <a:t>EDA</a:t>
            </a:r>
            <a:endParaRPr lang="ru-RU" sz="4800" b="1" dirty="0">
              <a:solidFill>
                <a:srgbClr val="333333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88C01E40-FBE1-40B9-AA09-85DC2BE0ABA5}"/>
              </a:ext>
            </a:extLst>
          </p:cNvPr>
          <p:cNvSpPr/>
          <p:nvPr/>
        </p:nvSpPr>
        <p:spPr>
          <a:xfrm>
            <a:off x="4458445" y="2704315"/>
            <a:ext cx="2673254" cy="2585153"/>
          </a:xfrm>
          <a:prstGeom prst="ellipse">
            <a:avLst/>
          </a:prstGeom>
          <a:solidFill>
            <a:srgbClr val="FCE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33333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BC3CC-242A-443B-A529-AB355DB35107}"/>
              </a:ext>
            </a:extLst>
          </p:cNvPr>
          <p:cNvSpPr txBox="1"/>
          <p:nvPr/>
        </p:nvSpPr>
        <p:spPr>
          <a:xfrm>
            <a:off x="4878795" y="3812225"/>
            <a:ext cx="1856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836 тыс. записей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DE2AA-3480-49B1-9484-17A06F40DBB2}"/>
              </a:ext>
            </a:extLst>
          </p:cNvPr>
          <p:cNvSpPr txBox="1"/>
          <p:nvPr/>
        </p:nvSpPr>
        <p:spPr>
          <a:xfrm>
            <a:off x="5041531" y="4341497"/>
            <a:ext cx="1532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56 признаков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B9F05B-2D29-4894-99BB-41B09AB55FE0}"/>
              </a:ext>
            </a:extLst>
          </p:cNvPr>
          <p:cNvSpPr txBox="1"/>
          <p:nvPr/>
        </p:nvSpPr>
        <p:spPr>
          <a:xfrm>
            <a:off x="4569779" y="3369463"/>
            <a:ext cx="2561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01.01.2024 – 07.11.2024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5B0B29-A36F-420F-91F8-A8F56ACA3812}"/>
              </a:ext>
            </a:extLst>
          </p:cNvPr>
          <p:cNvSpPr txBox="1"/>
          <p:nvPr/>
        </p:nvSpPr>
        <p:spPr>
          <a:xfrm>
            <a:off x="750805" y="1351390"/>
            <a:ext cx="4755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/>
              <a:t>ДО СОВЕРШЕНИЯ ЗАКАЗА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CB32B1-EEE9-43A6-BE78-C815B9F8AEDA}"/>
              </a:ext>
            </a:extLst>
          </p:cNvPr>
          <p:cNvSpPr txBox="1"/>
          <p:nvPr/>
        </p:nvSpPr>
        <p:spPr>
          <a:xfrm>
            <a:off x="6543068" y="1330622"/>
            <a:ext cx="5422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</a:rPr>
              <a:t>ПОСЛЕ СОВЕРШЕНИЯ ЗАКАЗА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8AEC16-8FA3-4E58-BFE0-480D6ABA1836}"/>
              </a:ext>
            </a:extLst>
          </p:cNvPr>
          <p:cNvSpPr txBox="1"/>
          <p:nvPr/>
        </p:nvSpPr>
        <p:spPr>
          <a:xfrm>
            <a:off x="7280500" y="3460657"/>
            <a:ext cx="4116833" cy="793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700"/>
              </a:lnSpc>
            </a:pPr>
            <a:r>
              <a:rPr lang="ru-RU" sz="2800" b="1" dirty="0">
                <a:solidFill>
                  <a:schemeClr val="bg1"/>
                </a:solidFill>
              </a:rPr>
              <a:t>транзакционные данные</a:t>
            </a:r>
          </a:p>
          <a:p>
            <a:pPr>
              <a:lnSpc>
                <a:spcPts val="2700"/>
              </a:lnSpc>
            </a:pPr>
            <a:r>
              <a:rPr lang="ru-RU" sz="2800" b="1" dirty="0">
                <a:solidFill>
                  <a:schemeClr val="bg1"/>
                </a:solidFill>
              </a:rPr>
              <a:t>заказа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A0F99E-99EA-49F8-921D-DC32B682BF7E}"/>
              </a:ext>
            </a:extLst>
          </p:cNvPr>
          <p:cNvSpPr txBox="1"/>
          <p:nvPr/>
        </p:nvSpPr>
        <p:spPr>
          <a:xfrm>
            <a:off x="7304544" y="4508500"/>
            <a:ext cx="3186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география поездки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943176-BEA2-479D-B8F1-2D44BEC23BC0}"/>
              </a:ext>
            </a:extLst>
          </p:cNvPr>
          <p:cNvSpPr txBox="1"/>
          <p:nvPr/>
        </p:nvSpPr>
        <p:spPr>
          <a:xfrm>
            <a:off x="7235074" y="5683044"/>
            <a:ext cx="4693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коммуникационные данные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FB7C2F-C511-4AC3-9036-F05E8EDC72D5}"/>
              </a:ext>
            </a:extLst>
          </p:cNvPr>
          <p:cNvSpPr txBox="1"/>
          <p:nvPr/>
        </p:nvSpPr>
        <p:spPr>
          <a:xfrm>
            <a:off x="217850" y="3374812"/>
            <a:ext cx="34796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333333"/>
                </a:solidFill>
              </a:rPr>
              <a:t>демография клиента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7F2432-5438-4F50-B426-1E1386A71995}"/>
              </a:ext>
            </a:extLst>
          </p:cNvPr>
          <p:cNvSpPr txBox="1"/>
          <p:nvPr/>
        </p:nvSpPr>
        <p:spPr>
          <a:xfrm>
            <a:off x="229616" y="4528928"/>
            <a:ext cx="3143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333333"/>
                </a:solidFill>
              </a:rPr>
              <a:t>география клиента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085FCA-FD1E-4C2E-A62F-016A1BA21461}"/>
              </a:ext>
            </a:extLst>
          </p:cNvPr>
          <p:cNvSpPr txBox="1"/>
          <p:nvPr/>
        </p:nvSpPr>
        <p:spPr>
          <a:xfrm>
            <a:off x="176016" y="5683044"/>
            <a:ext cx="3640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333333"/>
                </a:solidFill>
              </a:rPr>
              <a:t>финансовый профиль</a:t>
            </a:r>
          </a:p>
        </p:txBody>
      </p:sp>
    </p:spTree>
    <p:extLst>
      <p:ext uri="{BB962C8B-B14F-4D97-AF65-F5344CB8AC3E}">
        <p14:creationId xmlns:p14="http://schemas.microsoft.com/office/powerpoint/2010/main" val="34808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: усеченные противолежащие углы 30">
            <a:extLst>
              <a:ext uri="{FF2B5EF4-FFF2-40B4-BE49-F238E27FC236}">
                <a16:creationId xmlns:a16="http://schemas.microsoft.com/office/drawing/2014/main" id="{E67D5DF3-FCD3-447D-9ABC-0973B27BEBDC}"/>
              </a:ext>
            </a:extLst>
          </p:cNvPr>
          <p:cNvSpPr/>
          <p:nvPr/>
        </p:nvSpPr>
        <p:spPr>
          <a:xfrm>
            <a:off x="543532" y="3213644"/>
            <a:ext cx="3418153" cy="3310981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CE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усеченные противолежащие углы 34">
            <a:extLst>
              <a:ext uri="{FF2B5EF4-FFF2-40B4-BE49-F238E27FC236}">
                <a16:creationId xmlns:a16="http://schemas.microsoft.com/office/drawing/2014/main" id="{08A23CBF-E64F-4A02-899E-53EDFB6DAA8B}"/>
              </a:ext>
            </a:extLst>
          </p:cNvPr>
          <p:cNvSpPr/>
          <p:nvPr/>
        </p:nvSpPr>
        <p:spPr>
          <a:xfrm>
            <a:off x="4505217" y="3250186"/>
            <a:ext cx="3299860" cy="3274439"/>
          </a:xfrm>
          <a:prstGeom prst="snip2DiagRect">
            <a:avLst/>
          </a:prstGeom>
          <a:solidFill>
            <a:srgbClr val="FCE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усеченные противолежащие углы 35">
            <a:extLst>
              <a:ext uri="{FF2B5EF4-FFF2-40B4-BE49-F238E27FC236}">
                <a16:creationId xmlns:a16="http://schemas.microsoft.com/office/drawing/2014/main" id="{5C6BAA6A-F628-4BD2-9158-5A97FBC23773}"/>
              </a:ext>
            </a:extLst>
          </p:cNvPr>
          <p:cNvSpPr/>
          <p:nvPr/>
        </p:nvSpPr>
        <p:spPr>
          <a:xfrm>
            <a:off x="8348609" y="3213644"/>
            <a:ext cx="3299860" cy="3310981"/>
          </a:xfrm>
          <a:prstGeom prst="snip2Diag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043805-C7A8-411B-A6E7-858DCED7A548}"/>
              </a:ext>
            </a:extLst>
          </p:cNvPr>
          <p:cNvGrpSpPr/>
          <p:nvPr/>
        </p:nvGrpSpPr>
        <p:grpSpPr>
          <a:xfrm>
            <a:off x="334963" y="802907"/>
            <a:ext cx="7665058" cy="500514"/>
            <a:chOff x="334963" y="1417848"/>
            <a:chExt cx="7665058" cy="500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F2DBBC7-B3B3-4C8C-9FFB-5081DB759F74}"/>
                </a:ext>
              </a:extLst>
            </p:cNvPr>
            <p:cNvSpPr/>
            <p:nvPr/>
          </p:nvSpPr>
          <p:spPr>
            <a:xfrm>
              <a:off x="334963" y="1617043"/>
              <a:ext cx="7164544" cy="115495"/>
            </a:xfrm>
            <a:prstGeom prst="rect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9FC80AC4-1540-449C-9494-A5512370CCD4}"/>
                </a:ext>
              </a:extLst>
            </p:cNvPr>
            <p:cNvSpPr/>
            <p:nvPr/>
          </p:nvSpPr>
          <p:spPr>
            <a:xfrm>
              <a:off x="7499507" y="1417848"/>
              <a:ext cx="500514" cy="500514"/>
            </a:xfrm>
            <a:prstGeom prst="ellipse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AA4E00D6-0ED8-4029-9650-D674C7B2C3E8}"/>
                </a:ext>
              </a:extLst>
            </p:cNvPr>
            <p:cNvSpPr/>
            <p:nvPr/>
          </p:nvSpPr>
          <p:spPr>
            <a:xfrm>
              <a:off x="7615011" y="1528287"/>
              <a:ext cx="269506" cy="2796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4447D71-1162-4911-AF08-7EF6157E71B2}"/>
              </a:ext>
            </a:extLst>
          </p:cNvPr>
          <p:cNvSpPr txBox="1"/>
          <p:nvPr/>
        </p:nvSpPr>
        <p:spPr>
          <a:xfrm>
            <a:off x="264127" y="251297"/>
            <a:ext cx="12314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333333"/>
                </a:solidFill>
              </a:rPr>
              <a:t>EDA</a:t>
            </a:r>
            <a:endParaRPr lang="ru-RU" sz="4800" b="1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BA8BF-F21D-4250-A30A-0A5037BE9DF7}"/>
              </a:ext>
            </a:extLst>
          </p:cNvPr>
          <p:cNvSpPr txBox="1"/>
          <p:nvPr/>
        </p:nvSpPr>
        <p:spPr>
          <a:xfrm>
            <a:off x="212376" y="1603430"/>
            <a:ext cx="7921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333333"/>
                </a:solidFill>
              </a:rPr>
              <a:t>ЗАКАЗЫ СО СТАТУСОМ </a:t>
            </a:r>
            <a:r>
              <a:rPr lang="en-US" sz="3200" b="1" dirty="0">
                <a:solidFill>
                  <a:srgbClr val="333333"/>
                </a:solidFill>
              </a:rPr>
              <a:t>SUC</a:t>
            </a:r>
            <a:r>
              <a:rPr lang="ru-RU" sz="3200" b="1" dirty="0">
                <a:solidFill>
                  <a:srgbClr val="333333"/>
                </a:solidFill>
              </a:rPr>
              <a:t>С</a:t>
            </a:r>
            <a:r>
              <a:rPr lang="en-US" sz="3200" b="1" dirty="0">
                <a:solidFill>
                  <a:srgbClr val="333333"/>
                </a:solidFill>
              </a:rPr>
              <a:t>ESS (</a:t>
            </a:r>
            <a:r>
              <a:rPr lang="ru-RU" sz="3200" b="1" dirty="0">
                <a:solidFill>
                  <a:srgbClr val="333333"/>
                </a:solidFill>
              </a:rPr>
              <a:t>УСПЕШНО</a:t>
            </a:r>
            <a:r>
              <a:rPr lang="en-US" sz="3200" b="1" dirty="0">
                <a:solidFill>
                  <a:srgbClr val="333333"/>
                </a:solidFill>
              </a:rPr>
              <a:t>)</a:t>
            </a:r>
            <a:endParaRPr lang="ru-RU" sz="3200" b="1" dirty="0">
              <a:solidFill>
                <a:srgbClr val="333333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928173-4AE0-43EF-93FD-07E6A07D9EF7}"/>
              </a:ext>
            </a:extLst>
          </p:cNvPr>
          <p:cNvSpPr txBox="1"/>
          <p:nvPr/>
        </p:nvSpPr>
        <p:spPr>
          <a:xfrm>
            <a:off x="686650" y="3513653"/>
            <a:ext cx="1452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ЗАКАЗЫ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F46E57-6917-48CF-B2DB-9638AE995463}"/>
              </a:ext>
            </a:extLst>
          </p:cNvPr>
          <p:cNvSpPr txBox="1"/>
          <p:nvPr/>
        </p:nvSpPr>
        <p:spPr>
          <a:xfrm>
            <a:off x="686650" y="4695973"/>
            <a:ext cx="31085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759 тыс. записей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AA0A39-8D8A-4358-B774-A36CDD2AE76C}"/>
              </a:ext>
            </a:extLst>
          </p:cNvPr>
          <p:cNvSpPr txBox="1"/>
          <p:nvPr/>
        </p:nvSpPr>
        <p:spPr>
          <a:xfrm>
            <a:off x="4641221" y="3513653"/>
            <a:ext cx="1894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АККАУНТЫ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A927ED-466C-4205-81DF-9B508B1F7BF8}"/>
              </a:ext>
            </a:extLst>
          </p:cNvPr>
          <p:cNvSpPr txBox="1"/>
          <p:nvPr/>
        </p:nvSpPr>
        <p:spPr>
          <a:xfrm>
            <a:off x="8425016" y="3513653"/>
            <a:ext cx="1712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FCEA14"/>
                </a:solidFill>
              </a:rPr>
              <a:t>КЛИЕНТЫ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03B148-F380-47F6-BECF-235604C2784B}"/>
              </a:ext>
            </a:extLst>
          </p:cNvPr>
          <p:cNvSpPr txBox="1"/>
          <p:nvPr/>
        </p:nvSpPr>
        <p:spPr>
          <a:xfrm>
            <a:off x="4641221" y="4689800"/>
            <a:ext cx="31085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133 тыс. записей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BC939B-AF2D-4597-B6F7-3E9E0B09364B}"/>
              </a:ext>
            </a:extLst>
          </p:cNvPr>
          <p:cNvSpPr txBox="1"/>
          <p:nvPr/>
        </p:nvSpPr>
        <p:spPr>
          <a:xfrm>
            <a:off x="8425016" y="4689799"/>
            <a:ext cx="2900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FCEA14"/>
                </a:solidFill>
              </a:rPr>
              <a:t>99 тыс. записей</a:t>
            </a:r>
          </a:p>
        </p:txBody>
      </p:sp>
    </p:spTree>
    <p:extLst>
      <p:ext uri="{BB962C8B-B14F-4D97-AF65-F5344CB8AC3E}">
        <p14:creationId xmlns:p14="http://schemas.microsoft.com/office/powerpoint/2010/main" val="209778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043805-C7A8-411B-A6E7-858DCED7A548}"/>
              </a:ext>
            </a:extLst>
          </p:cNvPr>
          <p:cNvGrpSpPr/>
          <p:nvPr/>
        </p:nvGrpSpPr>
        <p:grpSpPr>
          <a:xfrm>
            <a:off x="334963" y="802907"/>
            <a:ext cx="7665058" cy="500514"/>
            <a:chOff x="334963" y="1417848"/>
            <a:chExt cx="7665058" cy="500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F2DBBC7-B3B3-4C8C-9FFB-5081DB759F74}"/>
                </a:ext>
              </a:extLst>
            </p:cNvPr>
            <p:cNvSpPr/>
            <p:nvPr/>
          </p:nvSpPr>
          <p:spPr>
            <a:xfrm>
              <a:off x="334963" y="1617043"/>
              <a:ext cx="7164544" cy="115495"/>
            </a:xfrm>
            <a:prstGeom prst="rect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9FC80AC4-1540-449C-9494-A5512370CCD4}"/>
                </a:ext>
              </a:extLst>
            </p:cNvPr>
            <p:cNvSpPr/>
            <p:nvPr/>
          </p:nvSpPr>
          <p:spPr>
            <a:xfrm>
              <a:off x="7499507" y="1417848"/>
              <a:ext cx="500514" cy="500514"/>
            </a:xfrm>
            <a:prstGeom prst="ellipse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AA4E00D6-0ED8-4029-9650-D674C7B2C3E8}"/>
                </a:ext>
              </a:extLst>
            </p:cNvPr>
            <p:cNvSpPr/>
            <p:nvPr/>
          </p:nvSpPr>
          <p:spPr>
            <a:xfrm>
              <a:off x="7615011" y="1528287"/>
              <a:ext cx="269506" cy="2796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4447D71-1162-4911-AF08-7EF6157E71B2}"/>
              </a:ext>
            </a:extLst>
          </p:cNvPr>
          <p:cNvSpPr txBox="1"/>
          <p:nvPr/>
        </p:nvSpPr>
        <p:spPr>
          <a:xfrm>
            <a:off x="264127" y="251297"/>
            <a:ext cx="12314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333333"/>
                </a:solidFill>
              </a:rPr>
              <a:t>EDA</a:t>
            </a:r>
            <a:endParaRPr lang="ru-RU" sz="4800" b="1" dirty="0">
              <a:solidFill>
                <a:srgbClr val="33333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B7FD1-D674-46D7-84C7-D8C878F39121}"/>
              </a:ext>
            </a:extLst>
          </p:cNvPr>
          <p:cNvSpPr txBox="1"/>
          <p:nvPr/>
        </p:nvSpPr>
        <p:spPr>
          <a:xfrm>
            <a:off x="2917920" y="2727054"/>
            <a:ext cx="3212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26.09.2017 - 06.11.2024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486F863-291B-4F6C-A1EB-2FA6A2D0E011}"/>
              </a:ext>
            </a:extLst>
          </p:cNvPr>
          <p:cNvSpPr/>
          <p:nvPr/>
        </p:nvSpPr>
        <p:spPr>
          <a:xfrm>
            <a:off x="-9548" y="3661180"/>
            <a:ext cx="6096000" cy="3213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EF406771-98F6-4F9E-942A-DBDD775A71E5}"/>
              </a:ext>
            </a:extLst>
          </p:cNvPr>
          <p:cNvSpPr/>
          <p:nvPr/>
        </p:nvSpPr>
        <p:spPr>
          <a:xfrm rot="10800000">
            <a:off x="2557111" y="3661180"/>
            <a:ext cx="981777" cy="231006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>
            <a:extLst>
              <a:ext uri="{FF2B5EF4-FFF2-40B4-BE49-F238E27FC236}">
                <a16:creationId xmlns:a16="http://schemas.microsoft.com/office/drawing/2014/main" id="{7B5B5E50-522B-4549-9A35-309C2A250467}"/>
              </a:ext>
            </a:extLst>
          </p:cNvPr>
          <p:cNvSpPr/>
          <p:nvPr/>
        </p:nvSpPr>
        <p:spPr>
          <a:xfrm rot="16200000">
            <a:off x="5489609" y="5147969"/>
            <a:ext cx="981777" cy="231006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4ED683-FADD-43DB-AEC7-54688081046C}"/>
              </a:ext>
            </a:extLst>
          </p:cNvPr>
          <p:cNvSpPr txBox="1"/>
          <p:nvPr/>
        </p:nvSpPr>
        <p:spPr>
          <a:xfrm>
            <a:off x="7499508" y="2271884"/>
            <a:ext cx="4060920" cy="4411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ru-RU" sz="3200" b="1" dirty="0"/>
              <a:t>АККАУНТЫ/КЛИЕНТЫ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AADEA0-0CCD-4758-A650-26E00B9736E5}"/>
              </a:ext>
            </a:extLst>
          </p:cNvPr>
          <p:cNvSpPr txBox="1"/>
          <p:nvPr/>
        </p:nvSpPr>
        <p:spPr>
          <a:xfrm>
            <a:off x="229149" y="1555728"/>
            <a:ext cx="1936556" cy="806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700"/>
              </a:lnSpc>
            </a:pPr>
            <a:r>
              <a:rPr lang="ru-RU" sz="3200" dirty="0"/>
              <a:t>ЗАКАЗЫ</a:t>
            </a:r>
          </a:p>
          <a:p>
            <a:pPr>
              <a:lnSpc>
                <a:spcPts val="2700"/>
              </a:lnSpc>
            </a:pPr>
            <a:r>
              <a:rPr lang="ru-RU" sz="3200" dirty="0"/>
              <a:t>за период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0C0BF8-8DF9-4C15-A8C8-7FE5F48A2FC8}"/>
              </a:ext>
            </a:extLst>
          </p:cNvPr>
          <p:cNvSpPr txBox="1"/>
          <p:nvPr/>
        </p:nvSpPr>
        <p:spPr>
          <a:xfrm>
            <a:off x="229149" y="2653233"/>
            <a:ext cx="2188997" cy="806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700"/>
              </a:lnSpc>
            </a:pPr>
            <a:r>
              <a:rPr lang="ru-RU" sz="3200" dirty="0"/>
              <a:t>1-ый ЗАКАЗ</a:t>
            </a:r>
          </a:p>
          <a:p>
            <a:pPr>
              <a:lnSpc>
                <a:spcPts val="2700"/>
              </a:lnSpc>
            </a:pPr>
            <a:r>
              <a:rPr lang="ru-RU" sz="3200" dirty="0"/>
              <a:t>за период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F9D1BC-D140-4DA0-B39A-938401A33EED}"/>
              </a:ext>
            </a:extLst>
          </p:cNvPr>
          <p:cNvSpPr txBox="1"/>
          <p:nvPr/>
        </p:nvSpPr>
        <p:spPr>
          <a:xfrm>
            <a:off x="2901801" y="1664458"/>
            <a:ext cx="3212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01.01.2024 - 07.11.2024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3C7AEF-08B5-4994-AEE1-A2541D9C9B68}"/>
              </a:ext>
            </a:extLst>
          </p:cNvPr>
          <p:cNvSpPr txBox="1"/>
          <p:nvPr/>
        </p:nvSpPr>
        <p:spPr>
          <a:xfrm>
            <a:off x="299104" y="3760626"/>
            <a:ext cx="3964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FCEA14"/>
                </a:solidFill>
              </a:rPr>
              <a:t>фильтрация клиентов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E4E469-E5B9-4F1C-B23C-29D050D98A2B}"/>
              </a:ext>
            </a:extLst>
          </p:cNvPr>
          <p:cNvSpPr txBox="1"/>
          <p:nvPr/>
        </p:nvSpPr>
        <p:spPr>
          <a:xfrm>
            <a:off x="264127" y="4464799"/>
            <a:ext cx="4454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FCEA14"/>
                </a:solidFill>
              </a:rPr>
              <a:t>- клиенты с 1 аккаунтом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D33C96-1CFB-4F2C-A081-6EDF3A9CD431}"/>
              </a:ext>
            </a:extLst>
          </p:cNvPr>
          <p:cNvSpPr txBox="1"/>
          <p:nvPr/>
        </p:nvSpPr>
        <p:spPr>
          <a:xfrm>
            <a:off x="274003" y="5196816"/>
            <a:ext cx="51463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FCEA14"/>
                </a:solidFill>
              </a:rPr>
              <a:t>- 1-й заказ после 01.01.2024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60EFF94-B00C-4D15-9EC8-AC9CAB2F81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150"/>
          <a:stretch/>
        </p:blipFill>
        <p:spPr>
          <a:xfrm>
            <a:off x="6114540" y="2757147"/>
            <a:ext cx="5994041" cy="413907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EE141AE-F1CF-46DC-A94B-952FC44A64C5}"/>
              </a:ext>
            </a:extLst>
          </p:cNvPr>
          <p:cNvSpPr txBox="1"/>
          <p:nvPr/>
        </p:nvSpPr>
        <p:spPr>
          <a:xfrm>
            <a:off x="274003" y="5928833"/>
            <a:ext cx="323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FCEA14"/>
                </a:solidFill>
              </a:rPr>
              <a:t>- только 1-й заказ</a:t>
            </a:r>
          </a:p>
        </p:txBody>
      </p:sp>
    </p:spTree>
    <p:extLst>
      <p:ext uri="{BB962C8B-B14F-4D97-AF65-F5344CB8AC3E}">
        <p14:creationId xmlns:p14="http://schemas.microsoft.com/office/powerpoint/2010/main" val="406902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60425F1-26DC-49E5-BF73-3E7BC6D3DB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612" b="6664"/>
          <a:stretch/>
        </p:blipFill>
        <p:spPr>
          <a:xfrm>
            <a:off x="161925" y="1683466"/>
            <a:ext cx="6758639" cy="5052566"/>
          </a:xfrm>
          <a:prstGeom prst="rect">
            <a:avLst/>
          </a:prstGeom>
        </p:spPr>
      </p:pic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043805-C7A8-411B-A6E7-858DCED7A548}"/>
              </a:ext>
            </a:extLst>
          </p:cNvPr>
          <p:cNvGrpSpPr/>
          <p:nvPr/>
        </p:nvGrpSpPr>
        <p:grpSpPr>
          <a:xfrm>
            <a:off x="334963" y="802907"/>
            <a:ext cx="7665058" cy="500514"/>
            <a:chOff x="334963" y="1417848"/>
            <a:chExt cx="7665058" cy="500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F2DBBC7-B3B3-4C8C-9FFB-5081DB759F74}"/>
                </a:ext>
              </a:extLst>
            </p:cNvPr>
            <p:cNvSpPr/>
            <p:nvPr/>
          </p:nvSpPr>
          <p:spPr>
            <a:xfrm>
              <a:off x="334963" y="1617043"/>
              <a:ext cx="7164544" cy="115495"/>
            </a:xfrm>
            <a:prstGeom prst="rect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9FC80AC4-1540-449C-9494-A5512370CCD4}"/>
                </a:ext>
              </a:extLst>
            </p:cNvPr>
            <p:cNvSpPr/>
            <p:nvPr/>
          </p:nvSpPr>
          <p:spPr>
            <a:xfrm>
              <a:off x="7499507" y="1417848"/>
              <a:ext cx="500514" cy="500514"/>
            </a:xfrm>
            <a:prstGeom prst="ellipse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AA4E00D6-0ED8-4029-9650-D674C7B2C3E8}"/>
                </a:ext>
              </a:extLst>
            </p:cNvPr>
            <p:cNvSpPr/>
            <p:nvPr/>
          </p:nvSpPr>
          <p:spPr>
            <a:xfrm>
              <a:off x="7615011" y="1528287"/>
              <a:ext cx="269506" cy="2796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4447D71-1162-4911-AF08-7EF6157E71B2}"/>
              </a:ext>
            </a:extLst>
          </p:cNvPr>
          <p:cNvSpPr txBox="1"/>
          <p:nvPr/>
        </p:nvSpPr>
        <p:spPr>
          <a:xfrm>
            <a:off x="264127" y="251297"/>
            <a:ext cx="64318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solidFill>
                  <a:srgbClr val="333333"/>
                </a:solidFill>
              </a:rPr>
              <a:t>ЦЕЛЕВАЯ ПЕРЕМЕННАЯ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DE64D9-5B49-4332-88E4-7523F3216B86}"/>
              </a:ext>
            </a:extLst>
          </p:cNvPr>
          <p:cNvSpPr txBox="1"/>
          <p:nvPr/>
        </p:nvSpPr>
        <p:spPr>
          <a:xfrm>
            <a:off x="1108558" y="3749367"/>
            <a:ext cx="1422377" cy="460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3200" dirty="0"/>
              <a:t>HOT - 0</a:t>
            </a:r>
            <a:endParaRPr lang="ru-RU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02DEEF-B8A7-4A68-96A3-2DBA15280769}"/>
              </a:ext>
            </a:extLst>
          </p:cNvPr>
          <p:cNvSpPr txBox="1"/>
          <p:nvPr/>
        </p:nvSpPr>
        <p:spPr>
          <a:xfrm>
            <a:off x="4417748" y="1266537"/>
            <a:ext cx="1268296" cy="460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sz="3200" dirty="0"/>
              <a:t>AIR - 1</a:t>
            </a:r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1DFDB-51E5-4E18-916B-16E0C11F186B}"/>
              </a:ext>
            </a:extLst>
          </p:cNvPr>
          <p:cNvSpPr txBox="1"/>
          <p:nvPr/>
        </p:nvSpPr>
        <p:spPr>
          <a:xfrm>
            <a:off x="6862536" y="3348839"/>
            <a:ext cx="4823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БИНАРНАЯ КЛАССИФИКАЦИЯ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C9D789-03EB-4C0C-AC13-61029C22A5AD}"/>
              </a:ext>
            </a:extLst>
          </p:cNvPr>
          <p:cNvSpPr txBox="1"/>
          <p:nvPr/>
        </p:nvSpPr>
        <p:spPr>
          <a:xfrm>
            <a:off x="6862536" y="4868863"/>
            <a:ext cx="4856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ДИСБАЛАНС КЛАССОВ (70/30)</a:t>
            </a:r>
          </a:p>
        </p:txBody>
      </p:sp>
    </p:spTree>
    <p:extLst>
      <p:ext uri="{BB962C8B-B14F-4D97-AF65-F5344CB8AC3E}">
        <p14:creationId xmlns:p14="http://schemas.microsoft.com/office/powerpoint/2010/main" val="45620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D8AC5CF-450E-496C-93C2-0C3F9739C09D}"/>
              </a:ext>
            </a:extLst>
          </p:cNvPr>
          <p:cNvSpPr/>
          <p:nvPr/>
        </p:nvSpPr>
        <p:spPr>
          <a:xfrm>
            <a:off x="207939" y="1385707"/>
            <a:ext cx="5716565" cy="753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4500"/>
              </a:lnSpc>
            </a:pPr>
            <a:r>
              <a:rPr lang="ru-RU" sz="6000" b="1" dirty="0"/>
              <a:t>Категориальные</a:t>
            </a:r>
          </a:p>
          <a:p>
            <a:pPr>
              <a:lnSpc>
                <a:spcPts val="4500"/>
              </a:lnSpc>
            </a:pPr>
            <a:r>
              <a:rPr lang="ru-RU" sz="6000" b="1" dirty="0"/>
              <a:t>признаки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CBBC974-63F5-4E50-9F7F-23500184DC82}"/>
              </a:ext>
            </a:extLst>
          </p:cNvPr>
          <p:cNvSpPr/>
          <p:nvPr/>
        </p:nvSpPr>
        <p:spPr>
          <a:xfrm>
            <a:off x="198094" y="5775556"/>
            <a:ext cx="57264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>
                <a:latin typeface="Jost"/>
              </a:rPr>
              <a:t>позволяет сохранять честное распределение признаков</a:t>
            </a:r>
            <a:endParaRPr lang="ru-RU" sz="2400" i="1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E209A6B-8B56-4711-B8E6-424652B81206}"/>
              </a:ext>
            </a:extLst>
          </p:cNvPr>
          <p:cNvSpPr/>
          <p:nvPr/>
        </p:nvSpPr>
        <p:spPr>
          <a:xfrm>
            <a:off x="6077097" y="5922504"/>
            <a:ext cx="58979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>
                <a:latin typeface="Jost"/>
                <a:ea typeface="Jost Light" pitchFamily="2" charset="-52"/>
              </a:rPr>
              <a:t>медиана не чувствительна к выбросам</a:t>
            </a:r>
            <a:endParaRPr lang="ru-RU" sz="2400" i="1" dirty="0"/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043805-C7A8-411B-A6E7-858DCED7A548}"/>
              </a:ext>
            </a:extLst>
          </p:cNvPr>
          <p:cNvGrpSpPr/>
          <p:nvPr/>
        </p:nvGrpSpPr>
        <p:grpSpPr>
          <a:xfrm>
            <a:off x="264127" y="607858"/>
            <a:ext cx="7665058" cy="500514"/>
            <a:chOff x="334963" y="1417848"/>
            <a:chExt cx="7665058" cy="500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F2DBBC7-B3B3-4C8C-9FFB-5081DB759F74}"/>
                </a:ext>
              </a:extLst>
            </p:cNvPr>
            <p:cNvSpPr/>
            <p:nvPr/>
          </p:nvSpPr>
          <p:spPr>
            <a:xfrm>
              <a:off x="334963" y="1617043"/>
              <a:ext cx="7164544" cy="115495"/>
            </a:xfrm>
            <a:prstGeom prst="rect">
              <a:avLst/>
            </a:prstGeom>
            <a:solidFill>
              <a:srgbClr val="FFDD2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9FC80AC4-1540-449C-9494-A5512370CCD4}"/>
                </a:ext>
              </a:extLst>
            </p:cNvPr>
            <p:cNvSpPr/>
            <p:nvPr/>
          </p:nvSpPr>
          <p:spPr>
            <a:xfrm>
              <a:off x="7499507" y="1417848"/>
              <a:ext cx="500514" cy="500514"/>
            </a:xfrm>
            <a:prstGeom prst="ellipse">
              <a:avLst/>
            </a:prstGeom>
            <a:solidFill>
              <a:srgbClr val="FFDD2D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AA4E00D6-0ED8-4029-9650-D674C7B2C3E8}"/>
                </a:ext>
              </a:extLst>
            </p:cNvPr>
            <p:cNvSpPr/>
            <p:nvPr/>
          </p:nvSpPr>
          <p:spPr>
            <a:xfrm>
              <a:off x="7615011" y="1528287"/>
              <a:ext cx="269506" cy="2796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1B886A7E-1352-4B82-A153-B9A1105BE373}"/>
              </a:ext>
            </a:extLst>
          </p:cNvPr>
          <p:cNvSpPr/>
          <p:nvPr/>
        </p:nvSpPr>
        <p:spPr>
          <a:xfrm>
            <a:off x="6132469" y="1403800"/>
            <a:ext cx="3680816" cy="13053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4500"/>
              </a:lnSpc>
            </a:pPr>
            <a:r>
              <a:rPr lang="ru-RU" sz="6000" b="1" dirty="0"/>
              <a:t>Числовые </a:t>
            </a:r>
          </a:p>
          <a:p>
            <a:pPr>
              <a:lnSpc>
                <a:spcPts val="4500"/>
              </a:lnSpc>
            </a:pPr>
            <a:r>
              <a:rPr lang="ru-RU" sz="6000" b="1" dirty="0"/>
              <a:t>признаки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447D71-1162-4911-AF08-7EF6157E71B2}"/>
              </a:ext>
            </a:extLst>
          </p:cNvPr>
          <p:cNvSpPr txBox="1"/>
          <p:nvPr/>
        </p:nvSpPr>
        <p:spPr>
          <a:xfrm>
            <a:off x="201801" y="251447"/>
            <a:ext cx="8614940" cy="639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800" b="1" dirty="0"/>
              <a:t>ОБРАБОТКА ПРОПУСКОВ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7870712-4DF0-4426-8FE6-0BDD43C5714C}"/>
              </a:ext>
            </a:extLst>
          </p:cNvPr>
          <p:cNvSpPr/>
          <p:nvPr/>
        </p:nvSpPr>
        <p:spPr>
          <a:xfrm>
            <a:off x="207939" y="2897937"/>
            <a:ext cx="50471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Jost"/>
              </a:rPr>
              <a:t>новые признаки: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FB17099-7B98-4D34-9418-FBBF3C6E0A6F}"/>
              </a:ext>
            </a:extLst>
          </p:cNvPr>
          <p:cNvSpPr/>
          <p:nvPr/>
        </p:nvSpPr>
        <p:spPr>
          <a:xfrm>
            <a:off x="6066246" y="3457183"/>
            <a:ext cx="50471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Jost"/>
              </a:rPr>
              <a:t>замена медианой</a:t>
            </a:r>
            <a:endParaRPr lang="ru-RU" sz="24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A8142D3-21BC-4049-A167-FAD0DA9F2FF4}"/>
              </a:ext>
            </a:extLst>
          </p:cNvPr>
          <p:cNvSpPr/>
          <p:nvPr/>
        </p:nvSpPr>
        <p:spPr>
          <a:xfrm>
            <a:off x="6066246" y="4264455"/>
            <a:ext cx="5938219" cy="376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ru-RU" sz="2400" dirty="0">
                <a:latin typeface="Jost"/>
              </a:rPr>
              <a:t>бинарный признак (для кол-ва детей)</a:t>
            </a:r>
            <a:endParaRPr lang="ru-RU" sz="2400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09D1CAEE-53F0-416C-9A7D-B1E39C555E43}"/>
              </a:ext>
            </a:extLst>
          </p:cNvPr>
          <p:cNvCxnSpPr>
            <a:cxnSpLocks/>
          </p:cNvCxnSpPr>
          <p:nvPr/>
        </p:nvCxnSpPr>
        <p:spPr>
          <a:xfrm>
            <a:off x="6096000" y="1219299"/>
            <a:ext cx="0" cy="5638701"/>
          </a:xfrm>
          <a:prstGeom prst="line">
            <a:avLst/>
          </a:prstGeom>
          <a:ln w="63500">
            <a:solidFill>
              <a:srgbClr val="FFD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1AFA48D-9FAF-4F6A-AF91-6CB64464F294}"/>
              </a:ext>
            </a:extLst>
          </p:cNvPr>
          <p:cNvCxnSpPr>
            <a:cxnSpLocks/>
          </p:cNvCxnSpPr>
          <p:nvPr/>
        </p:nvCxnSpPr>
        <p:spPr>
          <a:xfrm>
            <a:off x="0" y="2624587"/>
            <a:ext cx="12192000" cy="0"/>
          </a:xfrm>
          <a:prstGeom prst="line">
            <a:avLst/>
          </a:prstGeom>
          <a:ln w="63500">
            <a:solidFill>
              <a:srgbClr val="FFD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6D78DBB4-7F3B-4337-8293-5E1829A67496}"/>
              </a:ext>
            </a:extLst>
          </p:cNvPr>
          <p:cNvCxnSpPr>
            <a:cxnSpLocks/>
          </p:cNvCxnSpPr>
          <p:nvPr/>
        </p:nvCxnSpPr>
        <p:spPr>
          <a:xfrm>
            <a:off x="0" y="5436660"/>
            <a:ext cx="12272211" cy="0"/>
          </a:xfrm>
          <a:prstGeom prst="line">
            <a:avLst/>
          </a:prstGeom>
          <a:ln w="63500">
            <a:solidFill>
              <a:srgbClr val="FFDD2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BA6E9931-075E-4450-8E27-F3525488271D}"/>
              </a:ext>
            </a:extLst>
          </p:cNvPr>
          <p:cNvSpPr/>
          <p:nvPr/>
        </p:nvSpPr>
        <p:spPr>
          <a:xfrm>
            <a:off x="2847821" y="3498399"/>
            <a:ext cx="19002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Jost"/>
              </a:rPr>
              <a:t>“Unknown”</a:t>
            </a:r>
            <a:endParaRPr lang="ru-RU" sz="2400" dirty="0">
              <a:latin typeface="Jost"/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5880444E-4A39-4809-858C-120F9334C31A}"/>
              </a:ext>
            </a:extLst>
          </p:cNvPr>
          <p:cNvSpPr/>
          <p:nvPr/>
        </p:nvSpPr>
        <p:spPr>
          <a:xfrm>
            <a:off x="2847821" y="4154980"/>
            <a:ext cx="2407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Jost"/>
              </a:rPr>
              <a:t>“</a:t>
            </a:r>
            <a:r>
              <a:rPr lang="en-US" sz="2400" dirty="0" err="1">
                <a:latin typeface="Jost"/>
              </a:rPr>
              <a:t>No_Program</a:t>
            </a:r>
            <a:r>
              <a:rPr lang="en-US" sz="2400" dirty="0">
                <a:latin typeface="Jost"/>
              </a:rPr>
              <a:t>”</a:t>
            </a:r>
            <a:endParaRPr lang="ru-RU" sz="2400" dirty="0">
              <a:latin typeface="Jost"/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048BD49D-AA90-41A0-A8F2-813724B0B7EE}"/>
              </a:ext>
            </a:extLst>
          </p:cNvPr>
          <p:cNvSpPr/>
          <p:nvPr/>
        </p:nvSpPr>
        <p:spPr>
          <a:xfrm>
            <a:off x="2820280" y="4871586"/>
            <a:ext cx="33504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Jost"/>
              </a:rPr>
              <a:t>“</a:t>
            </a:r>
            <a:r>
              <a:rPr lang="en-US" sz="2400" dirty="0" err="1">
                <a:latin typeface="Jost"/>
              </a:rPr>
              <a:t>Unknown_Operator</a:t>
            </a:r>
            <a:r>
              <a:rPr lang="en-US" sz="2400" dirty="0">
                <a:latin typeface="Jost"/>
              </a:rPr>
              <a:t>”</a:t>
            </a:r>
            <a:endParaRPr lang="ru-RU" sz="2400" dirty="0">
              <a:latin typeface="Jost"/>
            </a:endParaRP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DF7AA987-9B0D-4833-9153-A20221A44CBD}"/>
              </a:ext>
            </a:extLst>
          </p:cNvPr>
          <p:cNvSpPr/>
          <p:nvPr/>
        </p:nvSpPr>
        <p:spPr>
          <a:xfrm>
            <a:off x="6066246" y="4826619"/>
            <a:ext cx="5540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Jost"/>
              </a:rPr>
              <a:t>мода (для возрастной категории)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8580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043805-C7A8-411B-A6E7-858DCED7A548}"/>
              </a:ext>
            </a:extLst>
          </p:cNvPr>
          <p:cNvGrpSpPr/>
          <p:nvPr/>
        </p:nvGrpSpPr>
        <p:grpSpPr>
          <a:xfrm>
            <a:off x="334963" y="802907"/>
            <a:ext cx="7665058" cy="500514"/>
            <a:chOff x="334963" y="1417848"/>
            <a:chExt cx="7665058" cy="500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F2DBBC7-B3B3-4C8C-9FFB-5081DB759F74}"/>
                </a:ext>
              </a:extLst>
            </p:cNvPr>
            <p:cNvSpPr/>
            <p:nvPr/>
          </p:nvSpPr>
          <p:spPr>
            <a:xfrm>
              <a:off x="334963" y="1617043"/>
              <a:ext cx="7164544" cy="115495"/>
            </a:xfrm>
            <a:prstGeom prst="rect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9FC80AC4-1540-449C-9494-A5512370CCD4}"/>
                </a:ext>
              </a:extLst>
            </p:cNvPr>
            <p:cNvSpPr/>
            <p:nvPr/>
          </p:nvSpPr>
          <p:spPr>
            <a:xfrm>
              <a:off x="7499507" y="1417848"/>
              <a:ext cx="500514" cy="500514"/>
            </a:xfrm>
            <a:prstGeom prst="ellipse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AA4E00D6-0ED8-4029-9650-D674C7B2C3E8}"/>
                </a:ext>
              </a:extLst>
            </p:cNvPr>
            <p:cNvSpPr/>
            <p:nvPr/>
          </p:nvSpPr>
          <p:spPr>
            <a:xfrm>
              <a:off x="7615011" y="1528287"/>
              <a:ext cx="269506" cy="2796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4447D71-1162-4911-AF08-7EF6157E71B2}"/>
              </a:ext>
            </a:extLst>
          </p:cNvPr>
          <p:cNvSpPr txBox="1"/>
          <p:nvPr/>
        </p:nvSpPr>
        <p:spPr>
          <a:xfrm>
            <a:off x="248335" y="286600"/>
            <a:ext cx="58215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solidFill>
                  <a:srgbClr val="333333"/>
                </a:solidFill>
              </a:rPr>
              <a:t>Обработка выбросов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C5AA7F-5342-4CFD-8137-07BC91BB559F}"/>
              </a:ext>
            </a:extLst>
          </p:cNvPr>
          <p:cNvSpPr txBox="1"/>
          <p:nvPr/>
        </p:nvSpPr>
        <p:spPr>
          <a:xfrm>
            <a:off x="263525" y="1166644"/>
            <a:ext cx="5450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/>
              <a:t>БАЛАНС НА НАЧАЛО МЕСЯЦА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FDE5A0-DC54-439A-89C5-5DB780109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" y="1908484"/>
            <a:ext cx="11830050" cy="4762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04A57D-E456-4871-A7DA-2780FF9C8434}"/>
              </a:ext>
            </a:extLst>
          </p:cNvPr>
          <p:cNvSpPr txBox="1"/>
          <p:nvPr/>
        </p:nvSpPr>
        <p:spPr>
          <a:xfrm>
            <a:off x="1944303" y="1776703"/>
            <a:ext cx="271362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BOXPLOT</a:t>
            </a:r>
            <a:r>
              <a:rPr lang="ru-RU" sz="2400" b="1" dirty="0"/>
              <a:t> БАЛАНСА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78E354-D974-40F2-9F76-E28E819C82A9}"/>
              </a:ext>
            </a:extLst>
          </p:cNvPr>
          <p:cNvSpPr txBox="1"/>
          <p:nvPr/>
        </p:nvSpPr>
        <p:spPr>
          <a:xfrm>
            <a:off x="6860300" y="1753036"/>
            <a:ext cx="417473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2400" b="1" dirty="0"/>
              <a:t>БАЛАНС ПО ГРУППАМ </a:t>
            </a:r>
            <a:r>
              <a:rPr lang="en-US" sz="2400" b="1" dirty="0"/>
              <a:t>TARGET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7486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043805-C7A8-411B-A6E7-858DCED7A548}"/>
              </a:ext>
            </a:extLst>
          </p:cNvPr>
          <p:cNvGrpSpPr/>
          <p:nvPr/>
        </p:nvGrpSpPr>
        <p:grpSpPr>
          <a:xfrm>
            <a:off x="334963" y="802907"/>
            <a:ext cx="7665058" cy="500514"/>
            <a:chOff x="334963" y="1417848"/>
            <a:chExt cx="7665058" cy="500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F2DBBC7-B3B3-4C8C-9FFB-5081DB759F74}"/>
                </a:ext>
              </a:extLst>
            </p:cNvPr>
            <p:cNvSpPr/>
            <p:nvPr/>
          </p:nvSpPr>
          <p:spPr>
            <a:xfrm>
              <a:off x="334963" y="1617043"/>
              <a:ext cx="7164544" cy="115495"/>
            </a:xfrm>
            <a:prstGeom prst="rect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9FC80AC4-1540-449C-9494-A5512370CCD4}"/>
                </a:ext>
              </a:extLst>
            </p:cNvPr>
            <p:cNvSpPr/>
            <p:nvPr/>
          </p:nvSpPr>
          <p:spPr>
            <a:xfrm>
              <a:off x="7499507" y="1417848"/>
              <a:ext cx="500514" cy="500514"/>
            </a:xfrm>
            <a:prstGeom prst="ellipse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AA4E00D6-0ED8-4029-9650-D674C7B2C3E8}"/>
                </a:ext>
              </a:extLst>
            </p:cNvPr>
            <p:cNvSpPr/>
            <p:nvPr/>
          </p:nvSpPr>
          <p:spPr>
            <a:xfrm>
              <a:off x="7615011" y="1528287"/>
              <a:ext cx="269506" cy="2796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4447D71-1162-4911-AF08-7EF6157E71B2}"/>
              </a:ext>
            </a:extLst>
          </p:cNvPr>
          <p:cNvSpPr txBox="1"/>
          <p:nvPr/>
        </p:nvSpPr>
        <p:spPr>
          <a:xfrm>
            <a:off x="248335" y="286600"/>
            <a:ext cx="58215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solidFill>
                  <a:srgbClr val="333333"/>
                </a:solidFill>
              </a:rPr>
              <a:t>Обработка выбросов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C5AA7F-5342-4CFD-8137-07BC91BB559F}"/>
              </a:ext>
            </a:extLst>
          </p:cNvPr>
          <p:cNvSpPr txBox="1"/>
          <p:nvPr/>
        </p:nvSpPr>
        <p:spPr>
          <a:xfrm>
            <a:off x="248335" y="1192982"/>
            <a:ext cx="3661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/>
              <a:t>МЕСЯЧНЫЙ ДОХОД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97EE59-BD9B-4E2D-BF75-5B6182B5D5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2" t="1294" r="1561" b="2582"/>
          <a:stretch/>
        </p:blipFill>
        <p:spPr>
          <a:xfrm>
            <a:off x="1427747" y="1694766"/>
            <a:ext cx="9336506" cy="4398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DB2C47-9DDE-4852-BC87-03414BC6E4B1}"/>
              </a:ext>
            </a:extLst>
          </p:cNvPr>
          <p:cNvSpPr txBox="1"/>
          <p:nvPr/>
        </p:nvSpPr>
        <p:spPr>
          <a:xfrm>
            <a:off x="263525" y="6146774"/>
            <a:ext cx="7826117" cy="523220"/>
          </a:xfrm>
          <a:prstGeom prst="rect">
            <a:avLst/>
          </a:prstGeom>
          <a:solidFill>
            <a:srgbClr val="FCEA14"/>
          </a:solidFill>
        </p:spPr>
        <p:txBody>
          <a:bodyPr wrap="none" rtlCol="0">
            <a:spAutoFit/>
          </a:bodyPr>
          <a:lstStyle/>
          <a:p>
            <a:r>
              <a:rPr lang="ru-RU" sz="2800" b="1" dirty="0"/>
              <a:t>Метод обработки выбросов: логарифмирование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34738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41D173-E49E-48A3-A431-5C03157529BB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043805-C7A8-411B-A6E7-858DCED7A548}"/>
              </a:ext>
            </a:extLst>
          </p:cNvPr>
          <p:cNvGrpSpPr/>
          <p:nvPr/>
        </p:nvGrpSpPr>
        <p:grpSpPr>
          <a:xfrm>
            <a:off x="334963" y="802907"/>
            <a:ext cx="7665058" cy="500514"/>
            <a:chOff x="334963" y="1417848"/>
            <a:chExt cx="7665058" cy="500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F2DBBC7-B3B3-4C8C-9FFB-5081DB759F74}"/>
                </a:ext>
              </a:extLst>
            </p:cNvPr>
            <p:cNvSpPr/>
            <p:nvPr/>
          </p:nvSpPr>
          <p:spPr>
            <a:xfrm>
              <a:off x="334963" y="1617043"/>
              <a:ext cx="7164544" cy="115495"/>
            </a:xfrm>
            <a:prstGeom prst="rect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9FC80AC4-1540-449C-9494-A5512370CCD4}"/>
                </a:ext>
              </a:extLst>
            </p:cNvPr>
            <p:cNvSpPr/>
            <p:nvPr/>
          </p:nvSpPr>
          <p:spPr>
            <a:xfrm>
              <a:off x="7499507" y="1417848"/>
              <a:ext cx="500514" cy="500514"/>
            </a:xfrm>
            <a:prstGeom prst="ellipse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AA4E00D6-0ED8-4029-9650-D674C7B2C3E8}"/>
                </a:ext>
              </a:extLst>
            </p:cNvPr>
            <p:cNvSpPr/>
            <p:nvPr/>
          </p:nvSpPr>
          <p:spPr>
            <a:xfrm>
              <a:off x="7615011" y="1528287"/>
              <a:ext cx="269506" cy="2796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4447D71-1162-4911-AF08-7EF6157E71B2}"/>
              </a:ext>
            </a:extLst>
          </p:cNvPr>
          <p:cNvSpPr txBox="1"/>
          <p:nvPr/>
        </p:nvSpPr>
        <p:spPr>
          <a:xfrm>
            <a:off x="248335" y="286600"/>
            <a:ext cx="5025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solidFill>
                  <a:srgbClr val="333333"/>
                </a:solidFill>
              </a:rPr>
              <a:t>Обучение модели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72867-D8A0-4AFE-BA51-E04DDC197BA6}"/>
              </a:ext>
            </a:extLst>
          </p:cNvPr>
          <p:cNvSpPr txBox="1"/>
          <p:nvPr/>
        </p:nvSpPr>
        <p:spPr>
          <a:xfrm>
            <a:off x="219459" y="1047549"/>
            <a:ext cx="24495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CATBOOST</a:t>
            </a:r>
            <a:endParaRPr lang="ru-RU" sz="4000" b="1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98A3DD1-E355-41CD-A2D5-67E5B671E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56630"/>
              </p:ext>
            </p:extLst>
          </p:nvPr>
        </p:nvGraphicFramePr>
        <p:xfrm>
          <a:off x="695325" y="2945338"/>
          <a:ext cx="4645025" cy="3544362"/>
        </p:xfrm>
        <a:graphic>
          <a:graphicData uri="http://schemas.openxmlformats.org/drawingml/2006/table">
            <a:tbl>
              <a:tblPr/>
              <a:tblGrid>
                <a:gridCol w="3008141">
                  <a:extLst>
                    <a:ext uri="{9D8B030D-6E8A-4147-A177-3AD203B41FA5}">
                      <a16:colId xmlns:a16="http://schemas.microsoft.com/office/drawing/2014/main" val="1823825255"/>
                    </a:ext>
                  </a:extLst>
                </a:gridCol>
                <a:gridCol w="1636884">
                  <a:extLst>
                    <a:ext uri="{9D8B030D-6E8A-4147-A177-3AD203B41FA5}">
                      <a16:colId xmlns:a16="http://schemas.microsoft.com/office/drawing/2014/main" val="3523476903"/>
                    </a:ext>
                  </a:extLst>
                </a:gridCol>
              </a:tblGrid>
              <a:tr h="3865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effectLst/>
                        </a:rPr>
                        <a:t>feature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effectLst/>
                        </a:rPr>
                        <a:t>importance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512919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>
                          <a:effectLst/>
                        </a:rPr>
                        <a:t>birth_place</a:t>
                      </a:r>
                      <a:endParaRPr lang="en-US" sz="1600" dirty="0">
                        <a:effectLst/>
                      </a:endParaRP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 dirty="0">
                          <a:effectLst/>
                        </a:rPr>
                        <a:t>35.233394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4753449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>
                          <a:effectLst/>
                        </a:rPr>
                        <a:t>loyalty_program_type_nm</a:t>
                      </a:r>
                      <a:endParaRPr lang="en-US" sz="1600" dirty="0">
                        <a:effectLst/>
                      </a:endParaRP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 dirty="0">
                          <a:effectLst/>
                        </a:rPr>
                        <a:t>10.576930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5485337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>
                          <a:effectLst/>
                        </a:rPr>
                        <a:t>parent_meeting_region_nm</a:t>
                      </a:r>
                      <a:endParaRPr lang="en-US" sz="1600" dirty="0">
                        <a:effectLst/>
                      </a:endParaRP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 dirty="0">
                          <a:effectLst/>
                        </a:rPr>
                        <a:t>5.826726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1713783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>
                          <a:effectLst/>
                        </a:rPr>
                        <a:t>lvn_state_nm</a:t>
                      </a:r>
                      <a:endParaRPr lang="en-US" sz="1600" dirty="0">
                        <a:effectLst/>
                      </a:endParaRP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 dirty="0">
                          <a:effectLst/>
                        </a:rPr>
                        <a:t>5.783889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0294935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age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 dirty="0">
                          <a:effectLst/>
                        </a:rPr>
                        <a:t>4.891464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0676462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>
                          <a:effectLst/>
                        </a:rPr>
                        <a:t>time_zone_delta_tm</a:t>
                      </a:r>
                      <a:endParaRPr lang="en-US" sz="1600" dirty="0">
                        <a:effectLst/>
                      </a:endParaRP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 dirty="0">
                          <a:effectLst/>
                        </a:rPr>
                        <a:t>4.076607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3245864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>
                          <a:effectLst/>
                        </a:rPr>
                        <a:t>mobile_phone_operator_nm</a:t>
                      </a:r>
                      <a:endParaRPr lang="en-US" sz="1600" dirty="0">
                        <a:effectLst/>
                      </a:endParaRP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 dirty="0">
                          <a:effectLst/>
                        </a:rPr>
                        <a:t>3.886163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5474047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age_type_cd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 dirty="0">
                          <a:effectLst/>
                        </a:rPr>
                        <a:t>3.375920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9053689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education_level_cd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 dirty="0">
                          <a:effectLst/>
                        </a:rPr>
                        <a:t>3.286459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2548160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gender_cd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 dirty="0">
                          <a:effectLst/>
                        </a:rPr>
                        <a:t>3.128907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0199525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F8C07CA7-A6DD-430F-BFD0-D2969182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56" y="1800885"/>
            <a:ext cx="760688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B2B05EC-CDD6-4E44-A01F-6D14D6CA5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9879" y="1364057"/>
            <a:ext cx="213686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400" b="1" dirty="0"/>
              <a:t>R</a:t>
            </a:r>
            <a:r>
              <a:rPr kumimoji="0" lang="en-US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OC -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AUC: 0.78</a:t>
            </a:r>
            <a:endParaRPr kumimoji="0" lang="en-US" alt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PR-AUC: 0.9</a:t>
            </a:r>
            <a:endParaRPr kumimoji="0" lang="en-US" alt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F1: 0.8 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7C4293C-6173-40E6-9913-481953C095EF}"/>
              </a:ext>
            </a:extLst>
          </p:cNvPr>
          <p:cNvSpPr/>
          <p:nvPr/>
        </p:nvSpPr>
        <p:spPr>
          <a:xfrm>
            <a:off x="9901862" y="1364056"/>
            <a:ext cx="21902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i="0" dirty="0">
                <a:solidFill>
                  <a:schemeClr val="bg1"/>
                </a:solidFill>
                <a:effectLst/>
              </a:rPr>
              <a:t>POC-AUC: 0.74</a:t>
            </a:r>
          </a:p>
          <a:p>
            <a:r>
              <a:rPr lang="fr-FR" sz="2400" b="1" i="0" dirty="0">
                <a:solidFill>
                  <a:schemeClr val="bg1"/>
                </a:solidFill>
                <a:effectLst/>
              </a:rPr>
              <a:t>PR-AUC: 0.86</a:t>
            </a:r>
          </a:p>
          <a:p>
            <a:r>
              <a:rPr lang="fr-FR" sz="2400" b="1" i="0" dirty="0">
                <a:solidFill>
                  <a:schemeClr val="bg1"/>
                </a:solidFill>
                <a:effectLst/>
              </a:rPr>
              <a:t>F1: 0.8</a:t>
            </a:r>
            <a:endParaRPr lang="ru-RU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E0223290-527A-457C-B6F0-99116325F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798522"/>
              </p:ext>
            </p:extLst>
          </p:nvPr>
        </p:nvGraphicFramePr>
        <p:xfrm>
          <a:off x="6816725" y="2937045"/>
          <a:ext cx="4695090" cy="3552810"/>
        </p:xfrm>
        <a:graphic>
          <a:graphicData uri="http://schemas.openxmlformats.org/drawingml/2006/table">
            <a:tbl>
              <a:tblPr/>
              <a:tblGrid>
                <a:gridCol w="2992654">
                  <a:extLst>
                    <a:ext uri="{9D8B030D-6E8A-4147-A177-3AD203B41FA5}">
                      <a16:colId xmlns:a16="http://schemas.microsoft.com/office/drawing/2014/main" val="2598738126"/>
                    </a:ext>
                  </a:extLst>
                </a:gridCol>
                <a:gridCol w="1702436">
                  <a:extLst>
                    <a:ext uri="{9D8B030D-6E8A-4147-A177-3AD203B41FA5}">
                      <a16:colId xmlns:a16="http://schemas.microsoft.com/office/drawing/2014/main" val="3760723872"/>
                    </a:ext>
                  </a:extLst>
                </a:gridCol>
              </a:tblGrid>
              <a:tr h="372637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</a:rPr>
                        <a:t>importance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307118"/>
                  </a:ext>
                </a:extLst>
              </a:tr>
              <a:tr h="318002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loyalty_program_type_nm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12.007777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455810"/>
                  </a:ext>
                </a:extLst>
              </a:tr>
              <a:tr h="318002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lvn_state_nm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10.534297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107867"/>
                  </a:ext>
                </a:extLst>
              </a:tr>
              <a:tr h="318002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age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8.406865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39474"/>
                  </a:ext>
                </a:extLst>
              </a:tr>
              <a:tr h="318002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parent_meeting_region_nm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8.175661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861671"/>
                  </a:ext>
                </a:extLst>
              </a:tr>
              <a:tr h="318002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mobile_phone_operator_nm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6.737877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10392"/>
                  </a:ext>
                </a:extLst>
              </a:tr>
              <a:tr h="318002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education_level_cd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5.337861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198946"/>
                  </a:ext>
                </a:extLst>
              </a:tr>
              <a:tr h="318002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</a:rPr>
                        <a:t>marital_status_cd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4.948112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748230"/>
                  </a:ext>
                </a:extLst>
              </a:tr>
              <a:tr h="318002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gender_cd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4.804949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550746"/>
                  </a:ext>
                </a:extLst>
              </a:tr>
              <a:tr h="318002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</a:rPr>
                        <a:t>time_zone_delta_tm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4.767209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571997"/>
                  </a:ext>
                </a:extLst>
              </a:tr>
              <a:tr h="318002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bundle_nm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4.245587</a:t>
                      </a:r>
                    </a:p>
                  </a:txBody>
                  <a:tcPr marL="67990" marR="67990" marT="33995" marB="3399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88138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E0FE60D-9448-4820-958E-BA2FB4E40D61}"/>
              </a:ext>
            </a:extLst>
          </p:cNvPr>
          <p:cNvSpPr txBox="1"/>
          <p:nvPr/>
        </p:nvSpPr>
        <p:spPr>
          <a:xfrm>
            <a:off x="1509800" y="2516384"/>
            <a:ext cx="2909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ТОП- 10 ПРИЗНАКОВ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06BD56-A470-415A-90A9-567809229827}"/>
              </a:ext>
            </a:extLst>
          </p:cNvPr>
          <p:cNvSpPr txBox="1"/>
          <p:nvPr/>
        </p:nvSpPr>
        <p:spPr>
          <a:xfrm>
            <a:off x="7689274" y="2500215"/>
            <a:ext cx="2909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ТОП- 10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255403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043805-C7A8-411B-A6E7-858DCED7A548}"/>
              </a:ext>
            </a:extLst>
          </p:cNvPr>
          <p:cNvGrpSpPr/>
          <p:nvPr/>
        </p:nvGrpSpPr>
        <p:grpSpPr>
          <a:xfrm>
            <a:off x="334963" y="802907"/>
            <a:ext cx="7665058" cy="500514"/>
            <a:chOff x="334963" y="1417848"/>
            <a:chExt cx="7665058" cy="500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F2DBBC7-B3B3-4C8C-9FFB-5081DB759F74}"/>
                </a:ext>
              </a:extLst>
            </p:cNvPr>
            <p:cNvSpPr/>
            <p:nvPr/>
          </p:nvSpPr>
          <p:spPr>
            <a:xfrm>
              <a:off x="334963" y="1617043"/>
              <a:ext cx="7164544" cy="115495"/>
            </a:xfrm>
            <a:prstGeom prst="rect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9FC80AC4-1540-449C-9494-A5512370CCD4}"/>
                </a:ext>
              </a:extLst>
            </p:cNvPr>
            <p:cNvSpPr/>
            <p:nvPr/>
          </p:nvSpPr>
          <p:spPr>
            <a:xfrm>
              <a:off x="7499507" y="1417848"/>
              <a:ext cx="500514" cy="500514"/>
            </a:xfrm>
            <a:prstGeom prst="ellipse">
              <a:avLst/>
            </a:prstGeom>
            <a:solidFill>
              <a:srgbClr val="FCEA14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DD2D"/>
                </a:solidFill>
              </a:endParaRPr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AA4E00D6-0ED8-4029-9650-D674C7B2C3E8}"/>
                </a:ext>
              </a:extLst>
            </p:cNvPr>
            <p:cNvSpPr/>
            <p:nvPr/>
          </p:nvSpPr>
          <p:spPr>
            <a:xfrm>
              <a:off x="7615011" y="1528287"/>
              <a:ext cx="269506" cy="2796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4447D71-1162-4911-AF08-7EF6157E71B2}"/>
              </a:ext>
            </a:extLst>
          </p:cNvPr>
          <p:cNvSpPr txBox="1"/>
          <p:nvPr/>
        </p:nvSpPr>
        <p:spPr>
          <a:xfrm>
            <a:off x="248335" y="286600"/>
            <a:ext cx="55515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solidFill>
                  <a:srgbClr val="333333"/>
                </a:solidFill>
              </a:rPr>
              <a:t>Ключевые инсайты: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8C07CA7-A6DD-430F-BFD0-D2969182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56" y="1800885"/>
            <a:ext cx="760688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7C4293C-6173-40E6-9913-481953C095EF}"/>
              </a:ext>
            </a:extLst>
          </p:cNvPr>
          <p:cNvSpPr/>
          <p:nvPr/>
        </p:nvSpPr>
        <p:spPr>
          <a:xfrm>
            <a:off x="9901862" y="1364056"/>
            <a:ext cx="21902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i="0" dirty="0">
                <a:solidFill>
                  <a:schemeClr val="bg1"/>
                </a:solidFill>
                <a:effectLst/>
              </a:rPr>
              <a:t>POC-AUC: 0.74</a:t>
            </a:r>
          </a:p>
          <a:p>
            <a:r>
              <a:rPr lang="fr-FR" sz="2400" b="1" i="0" dirty="0">
                <a:solidFill>
                  <a:schemeClr val="bg1"/>
                </a:solidFill>
                <a:effectLst/>
              </a:rPr>
              <a:t>PR-AUC: 0.86</a:t>
            </a:r>
          </a:p>
          <a:p>
            <a:r>
              <a:rPr lang="fr-FR" sz="2400" b="1" i="0" dirty="0">
                <a:solidFill>
                  <a:schemeClr val="bg1"/>
                </a:solidFill>
                <a:effectLst/>
              </a:rPr>
              <a:t>F1: 0.8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771493-94DD-49D4-B0B5-30A68AE179CE}"/>
              </a:ext>
            </a:extLst>
          </p:cNvPr>
          <p:cNvSpPr txBox="1"/>
          <p:nvPr/>
        </p:nvSpPr>
        <p:spPr>
          <a:xfrm>
            <a:off x="1684145" y="3827168"/>
            <a:ext cx="11176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/>
              <a:t>демография и география влияют больше финансовых показателей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3EA8D3-F217-4CC3-BDEB-54BA6AED3315}"/>
              </a:ext>
            </a:extLst>
          </p:cNvPr>
          <p:cNvSpPr txBox="1"/>
          <p:nvPr/>
        </p:nvSpPr>
        <p:spPr>
          <a:xfrm>
            <a:off x="1686652" y="1539275"/>
            <a:ext cx="2583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ТОП-ФАКТОРЫ: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D90F72-08EB-4B22-B16D-7046373F6CD1}"/>
              </a:ext>
            </a:extLst>
          </p:cNvPr>
          <p:cNvSpPr txBox="1"/>
          <p:nvPr/>
        </p:nvSpPr>
        <p:spPr>
          <a:xfrm>
            <a:off x="1684145" y="1899905"/>
            <a:ext cx="11176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/>
              <a:t>программа лояльности, регион проживания, возраст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7CF035-B90C-4A48-ACFE-A9D9C4DE4CA5}"/>
              </a:ext>
            </a:extLst>
          </p:cNvPr>
          <p:cNvSpPr txBox="1"/>
          <p:nvPr/>
        </p:nvSpPr>
        <p:spPr>
          <a:xfrm>
            <a:off x="1668538" y="5210273"/>
            <a:ext cx="1117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Поведение клиентов сильно зависит от географии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F5EFBA-F861-48DA-8EDE-418C09CFEE6B}"/>
              </a:ext>
            </a:extLst>
          </p:cNvPr>
          <p:cNvSpPr txBox="1"/>
          <p:nvPr/>
        </p:nvSpPr>
        <p:spPr>
          <a:xfrm>
            <a:off x="1676342" y="5625065"/>
            <a:ext cx="11176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/>
              <a:t>нужны региональные стратегии</a:t>
            </a:r>
          </a:p>
        </p:txBody>
      </p:sp>
      <p:pic>
        <p:nvPicPr>
          <p:cNvPr id="17410" name="Picture 2" descr="Picture background">
            <a:extLst>
              <a:ext uri="{FF2B5EF4-FFF2-40B4-BE49-F238E27FC236}">
                <a16:creationId xmlns:a16="http://schemas.microsoft.com/office/drawing/2014/main" id="{863A6DE5-21CD-4CDB-A297-8A6A3AAAC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1599387"/>
            <a:ext cx="959503" cy="95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6" name="Picture 8" descr="Picture background">
            <a:extLst>
              <a:ext uri="{FF2B5EF4-FFF2-40B4-BE49-F238E27FC236}">
                <a16:creationId xmlns:a16="http://schemas.microsoft.com/office/drawing/2014/main" id="{6AB6BC70-2DAE-47A1-A4FA-DD53ED2E86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6" t="2700" r="12912" b="6385"/>
          <a:stretch/>
        </p:blipFill>
        <p:spPr bwMode="auto">
          <a:xfrm>
            <a:off x="183583" y="3254375"/>
            <a:ext cx="1039445" cy="1203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20" name="Picture 12" descr="Picture background">
            <a:extLst>
              <a:ext uri="{FF2B5EF4-FFF2-40B4-BE49-F238E27FC236}">
                <a16:creationId xmlns:a16="http://schemas.microsoft.com/office/drawing/2014/main" id="{2549CB5B-507F-4CDB-A8A3-FFBED05C2E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0"/>
          <a:stretch/>
        </p:blipFill>
        <p:spPr bwMode="auto">
          <a:xfrm>
            <a:off x="-1" y="4801251"/>
            <a:ext cx="1684145" cy="188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8321308-1300-44C6-8A01-F477C9555550}"/>
              </a:ext>
            </a:extLst>
          </p:cNvPr>
          <p:cNvSpPr txBox="1"/>
          <p:nvPr/>
        </p:nvSpPr>
        <p:spPr>
          <a:xfrm>
            <a:off x="1684145" y="3403690"/>
            <a:ext cx="1117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Кто клиент важнее, чем его баланс</a:t>
            </a:r>
          </a:p>
        </p:txBody>
      </p:sp>
    </p:spTree>
    <p:extLst>
      <p:ext uri="{BB962C8B-B14F-4D97-AF65-F5344CB8AC3E}">
        <p14:creationId xmlns:p14="http://schemas.microsoft.com/office/powerpoint/2010/main" val="203378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135DC4D2-1CE7-4437-A19B-5CDAAA47E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518138">
            <a:off x="7334499" y="-1583514"/>
            <a:ext cx="6882765" cy="6882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0B2619-341D-45FA-BAF3-F05EB2559113}"/>
              </a:ext>
            </a:extLst>
          </p:cNvPr>
          <p:cNvSpPr txBox="1"/>
          <p:nvPr/>
        </p:nvSpPr>
        <p:spPr>
          <a:xfrm>
            <a:off x="3264134" y="2859171"/>
            <a:ext cx="56637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24505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</TotalTime>
  <Words>431</Words>
  <Application>Microsoft Office PowerPoint</Application>
  <PresentationFormat>Широкоэкранный</PresentationFormat>
  <Paragraphs>169</Paragraphs>
  <Slides>14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Jost</vt:lpstr>
      <vt:lpstr>Jost Light</vt:lpstr>
      <vt:lpstr>Roboto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Листопад Елена Анатольевна</dc:creator>
  <cp:lastModifiedBy>Листопад Елена Анатольевна</cp:lastModifiedBy>
  <cp:revision>76</cp:revision>
  <dcterms:created xsi:type="dcterms:W3CDTF">2026-02-24T12:37:41Z</dcterms:created>
  <dcterms:modified xsi:type="dcterms:W3CDTF">2026-02-25T15:57:59Z</dcterms:modified>
</cp:coreProperties>
</file>